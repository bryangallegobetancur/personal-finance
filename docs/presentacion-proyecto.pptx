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5240000" cy="85725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 contenido: docs/Finanzas_Personales.pptx, diapositiva 1. Referencia visual: presentación Vidrio del proyecto.</a:t>
            </a:r>
          </a:p>
          <a:p>
            <a:r>
              <a:t>La aplicación usa reglas SQL para las alertas. El apoyo de IA al desarrollo y el análisis ético se explican en docs/IA_Y_ETICA.md. No ejecuta modelos de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 contenido: docs/Finanzas_Personales.pptx, diapositiva 2. Referencia visual: presentación Vidrio del proyecto.</a:t>
            </a:r>
          </a:p>
          <a:p>
            <a:r>
              <a:t>La fuente menciona categorización automática. El código actual usa selección manual, por lo que se corrige esa afirmación. Véanse src/components/transactions y docs/IA_Y_ETICA.md.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 contenido: docs/Finanzas_Personales.pptx, diapositiva 3. Referencia visual: presentación Vidrio del proyecto.</a:t>
            </a:r>
          </a:p>
          <a:p>
            <a:r>
              <a:t>Fuentes de contraste: docs/ARQUITECTURA.md, src/contexts y supabase/migrations. Se elimina la garantía absoluta de aislamiento y la afirmación de diseño 100% adaptable.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 contenido: docs/Finanzas_Personales.pptx, diapositiva 4. Referencia visual: presentación Vidrio del proyecto.</a:t>
            </a:r>
          </a:p>
          <a:p>
            <a:r>
              <a:t>Flujo técnico: GitHub activa el build de Vercel. Vercel sirve archivos al navegador. El navegador utiliza Supabase Auth para la sesión y Data API para consultar PostgreSQL bajo RLS. Fuentes: docs/ARQUITECTURA.md y vercel.json.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 contenido: docs/Finanzas_Personales.pptx, diapositiva 5. Referencia visual: presentación Vidrio del proyecto.</a:t>
            </a:r>
          </a:p>
          <a:p>
            <a:r>
              <a:t>Fuentes: supabase/migrations/0001_init.sql y src/hooks/queries/useAlerts.ts. Las pruebas cloud están pendientes. La deduplicación actual no garantiza unicidad por presupuesto y período ante concurrencia o movimientos retroactivos.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 contenido: docs/Finanzas_Personales.pptx, diapositiva 6. Referencia visual: presentación Vidrio del proyecto.</a:t>
            </a:r>
          </a:p>
          <a:p>
            <a:r>
              <a:t>Fuentes: package.json, src/contexts, src/hooks, supabase/migrations y .github/workflows/ci.yml. La tabla conserva las cuatro capas del original y explicita los cuatro temas vigentes.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 contenido: docs/Finanzas_Personales.pptx, diapositiva 7. Referencia visual: presentación Vidrio del proyecto.</a:t>
            </a:r>
          </a:p>
          <a:p>
            <a:r>
              <a:t>Fuentes: .github/workflows/ci.yml, package.json, vercel.json y docs/DESPLIEGUE.md. El porcentaje de TypeScript de la fuente no tiene fecha o medición reproducible y se omite. No existe un paso separado npm run typecheck en CI: npm run build ejecuta tsc --noEmit. No se presupone un bloqueo automático de Vercel condicionado al resultado de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 contenido: docs/Finanzas_Personales.pptx, diapositiva 8. Referencia visual: presentación Vidrio del proyecto.</a:t>
            </a:r>
          </a:p>
          <a:p>
            <a:r>
              <a:t>URLs: https://personal-finance-taupe-psi.vercel.app/explore/dashboard y https://github.com/bryangallegobetancur/Personal-finance. Fuente de evidencia: docs/EVIDENCIAS.md. El README remoto declara CC BY-NC-SA 4.0 y LICENSE.txt contiene MIT. La licencia queda pendiente de conciliación por los autores. La fuente afirmaba funcionamiento 100% y pruebas de integración aplicadas, pero la evidencia disponible no lo acredita. Confirmar modalidad del equipo, alcance de IA y plazo con el docente. La entrega en Canvas consiste únicamente en el enlace público del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0887FD9-29D7-4D97-960C-BF2B3D8B3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C292269-A0F2-4A94-AE08-4BF5E14B8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1D9FA4E-AA95-4BC5-BA81-356137E2A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DC65F3A-8C95-4310-8785-833ABFE82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004B7B4-D1C8-4DED-AB45-25EA99C5F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F28E415-8183-4D05-8553-F934D94BE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F41C5E2-7B1F-4794-A6CF-5C2C3EDBC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D8DEEFE-F8A3-45CB-B747-2D2F657F4D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F31BB62-1581-47AB-88A0-CFF071C95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620D53B-E83F-413C-8770-D58196A58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657BE39D-62F1-4DC2-9324-83908D36D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49" y="0"/>
            <a:ext cx="15231902" cy="85725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056DE8-9E1A-4B32-ABAF-D8C6C4978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335000" y="462877"/>
            <a:ext cx="1143000" cy="1131646"/>
          </a:xfrm>
          <a:prstGeom prst="rect">
            <a:avLst/>
          </a:prstGeom>
        </p:spPr>
      </p:pic>
      <p:sp>
        <p:nvSpPr>
          <p:cNvPr id="25" name="Entrega">
            <a:extLst>
              <a:ext uri="{FF2B5EF4-FFF2-40B4-BE49-F238E27FC236}">
                <a16:creationId xmlns:a16="http://schemas.microsoft.com/office/drawing/2014/main" id="{18D7C1C8-672E-45A3-8C89-57A113C56EBA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181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PROYECTO UCN IIA  /  TALLER ABP  /  ENTREGA 1 (20%)</a:t>
            </a:r>
          </a:p>
        </p:txBody>
      </p:sp>
      <p:sp>
        <p:nvSpPr>
          <p:cNvPr id="26" name="Título">
            <a:extLst>
              <a:ext uri="{FF2B5EF4-FFF2-40B4-BE49-F238E27FC236}">
                <a16:creationId xmlns:a16="http://schemas.microsoft.com/office/drawing/2014/main" id="{B1D3B507-B98C-46DD-8EF2-C79FEBF27D85}"/>
              </a:ext>
            </a:extLst>
          </p:cNvPr>
          <p:cNvSpPr>
            <a:spLocks noGrp="1"/>
          </p:cNvSpPr>
          <p:nvPr/>
        </p:nvSpPr>
        <p:spPr>
          <a:xfrm>
            <a:off x="742950" y="942975"/>
            <a:ext cx="12382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50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203A"/>
                </a:solidFill>
                <a:latin typeface="Arial"/>
                <a:ea typeface="Arial"/>
                <a:cs typeface="Arial"/>
              </a:rPr>
              <a:t>Finanzas Personales</a:t>
            </a:r>
          </a:p>
        </p:txBody>
      </p:sp>
      <p:sp>
        <p:nvSpPr>
          <p:cNvPr id="27" name="Subtítulo">
            <a:extLst>
              <a:ext uri="{FF2B5EF4-FFF2-40B4-BE49-F238E27FC236}">
                <a16:creationId xmlns:a16="http://schemas.microsoft.com/office/drawing/2014/main" id="{65A4C4CC-A7C3-4DEF-9719-2791A4DF4DA7}"/>
              </a:ext>
            </a:extLst>
          </p:cNvPr>
          <p:cNvSpPr>
            <a:spLocks noGrp="1"/>
          </p:cNvSpPr>
          <p:nvPr/>
        </p:nvSpPr>
        <p:spPr>
          <a:xfrm>
            <a:off x="762000" y="1828800"/>
            <a:ext cx="12382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React + Supabase</a:t>
            </a:r>
          </a:p>
        </p:txBody>
      </p:sp>
      <p:sp>
        <p:nvSpPr>
          <p:cNvPr id="28" name="Página">
            <a:extLst>
              <a:ext uri="{FF2B5EF4-FFF2-40B4-BE49-F238E27FC236}">
                <a16:creationId xmlns:a16="http://schemas.microsoft.com/office/drawing/2014/main" id="{0A7CD997-ECC6-4F62-BD8B-92EC6247FC56}"/>
              </a:ext>
            </a:extLst>
          </p:cNvPr>
          <p:cNvSpPr>
            <a:spLocks noGrp="1"/>
          </p:cNvSpPr>
          <p:nvPr/>
        </p:nvSpPr>
        <p:spPr>
          <a:xfrm>
            <a:off x="13430250" y="77628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35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1 / 8</a:t>
            </a:r>
          </a:p>
        </p:txBody>
      </p:sp>
      <p:sp>
        <p:nvSpPr>
          <p:cNvPr id="29" name="Mensaje principal">
            <a:extLst>
              <a:ext uri="{FF2B5EF4-FFF2-40B4-BE49-F238E27FC236}">
                <a16:creationId xmlns:a16="http://schemas.microsoft.com/office/drawing/2014/main" id="{5B0E5A84-C847-49CE-8E47-E72FA3757DDA}"/>
              </a:ext>
            </a:extLst>
          </p:cNvPr>
          <p:cNvSpPr>
            <a:spLocks noGrp="1"/>
          </p:cNvSpPr>
          <p:nvPr/>
        </p:nvSpPr>
        <p:spPr>
          <a:xfrm>
            <a:off x="762000" y="3048000"/>
            <a:ext cx="13335000" cy="171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425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425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4425" b="1" dirty="0" err="1">
                <a:solidFill>
                  <a:srgbClr val="10203A"/>
                </a:solidFill>
                <a:latin typeface="Arial"/>
                <a:ea typeface="Arial"/>
                <a:cs typeface="Arial"/>
              </a:rPr>
              <a:t>Gestión</a:t>
            </a:r>
            <a:r>
              <a:rPr sz="4425" b="1" dirty="0">
                <a:solidFill>
                  <a:srgbClr val="10203A"/>
                </a:solidFill>
                <a:latin typeface="Arial"/>
                <a:ea typeface="Arial"/>
                <a:cs typeface="Arial"/>
              </a:rPr>
              <a:t> </a:t>
            </a:r>
            <a:r>
              <a:rPr sz="4425" b="1" dirty="0" err="1">
                <a:solidFill>
                  <a:srgbClr val="10203A"/>
                </a:solidFill>
                <a:latin typeface="Arial"/>
                <a:ea typeface="Arial"/>
                <a:cs typeface="Arial"/>
              </a:rPr>
              <a:t>centralizada</a:t>
            </a:r>
            <a:r>
              <a:rPr sz="4425" b="1" dirty="0">
                <a:solidFill>
                  <a:srgbClr val="10203A"/>
                </a:solidFill>
                <a:latin typeface="Arial"/>
                <a:ea typeface="Arial"/>
                <a:cs typeface="Arial"/>
              </a:rPr>
              <a:t> de </a:t>
            </a:r>
            <a:r>
              <a:rPr sz="4425" b="1" dirty="0" err="1">
                <a:solidFill>
                  <a:srgbClr val="10203A"/>
                </a:solidFill>
                <a:latin typeface="Arial"/>
                <a:ea typeface="Arial"/>
                <a:cs typeface="Arial"/>
              </a:rPr>
              <a:t>ingresos</a:t>
            </a:r>
            <a:r>
              <a:rPr sz="4425" b="1" dirty="0">
                <a:solidFill>
                  <a:srgbClr val="10203A"/>
                </a:solidFill>
                <a:latin typeface="Arial"/>
                <a:ea typeface="Arial"/>
                <a:cs typeface="Arial"/>
              </a:rPr>
              <a:t>,</a:t>
            </a:r>
            <a:r>
              <a:rPr lang="es-CO" sz="4425" b="1" dirty="0">
                <a:solidFill>
                  <a:srgbClr val="10203A"/>
                </a:solidFill>
                <a:latin typeface="Arial"/>
                <a:ea typeface="Arial"/>
                <a:cs typeface="Arial"/>
              </a:rPr>
              <a:t> </a:t>
            </a:r>
            <a:r>
              <a:rPr sz="4425" b="1" dirty="0" err="1">
                <a:solidFill>
                  <a:srgbClr val="10203A"/>
                </a:solidFill>
                <a:latin typeface="Arial"/>
                <a:ea typeface="Arial"/>
                <a:cs typeface="Arial"/>
              </a:rPr>
              <a:t>gastos</a:t>
            </a:r>
            <a:r>
              <a:rPr sz="4425" b="1" dirty="0">
                <a:solidFill>
                  <a:srgbClr val="10203A"/>
                </a:solidFill>
                <a:latin typeface="Arial"/>
                <a:ea typeface="Arial"/>
                <a:cs typeface="Arial"/>
              </a:rPr>
              <a:t> y </a:t>
            </a:r>
            <a:r>
              <a:rPr sz="4425" b="1" dirty="0" err="1">
                <a:solidFill>
                  <a:srgbClr val="10203A"/>
                </a:solidFill>
                <a:latin typeface="Arial"/>
                <a:ea typeface="Arial"/>
                <a:cs typeface="Arial"/>
              </a:rPr>
              <a:t>presupuestos</a:t>
            </a:r>
            <a:endParaRPr sz="4425" b="1" dirty="0">
              <a:solidFill>
                <a:srgbClr val="1020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Descripción">
            <a:extLst>
              <a:ext uri="{FF2B5EF4-FFF2-40B4-BE49-F238E27FC236}">
                <a16:creationId xmlns:a16="http://schemas.microsoft.com/office/drawing/2014/main" id="{211C24FE-E0ED-4BF1-9F65-89F001AD7A66}"/>
              </a:ext>
            </a:extLst>
          </p:cNvPr>
          <p:cNvSpPr>
            <a:spLocks noGrp="1"/>
          </p:cNvSpPr>
          <p:nvPr/>
        </p:nvSpPr>
        <p:spPr>
          <a:xfrm>
            <a:off x="762000" y="5048250"/>
            <a:ext cx="12858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2400" b="0" dirty="0" err="1">
                <a:solidFill>
                  <a:srgbClr val="415971"/>
                </a:solidFill>
                <a:latin typeface="Arial"/>
                <a:ea typeface="Arial"/>
                <a:cs typeface="Arial"/>
              </a:rPr>
              <a:t>Aplicación</a:t>
            </a:r>
            <a:r>
              <a:rPr sz="2400" b="0" dirty="0">
                <a:solidFill>
                  <a:srgbClr val="415971"/>
                </a:solidFill>
                <a:latin typeface="Arial"/>
                <a:ea typeface="Arial"/>
                <a:cs typeface="Arial"/>
              </a:rPr>
              <a:t> web </a:t>
            </a:r>
            <a:r>
              <a:rPr sz="2400" b="0" dirty="0" err="1">
                <a:solidFill>
                  <a:srgbClr val="415971"/>
                </a:solidFill>
                <a:latin typeface="Arial"/>
                <a:ea typeface="Arial"/>
                <a:cs typeface="Arial"/>
              </a:rPr>
              <a:t>en</a:t>
            </a:r>
            <a:r>
              <a:rPr sz="2400" b="0" dirty="0">
                <a:solidFill>
                  <a:srgbClr val="415971"/>
                </a:solidFill>
                <a:latin typeface="Arial"/>
                <a:ea typeface="Arial"/>
                <a:cs typeface="Arial"/>
              </a:rPr>
              <a:t> la </a:t>
            </a:r>
            <a:r>
              <a:rPr sz="2400" b="0" dirty="0" err="1">
                <a:solidFill>
                  <a:srgbClr val="415971"/>
                </a:solidFill>
                <a:latin typeface="Arial"/>
                <a:ea typeface="Arial"/>
                <a:cs typeface="Arial"/>
              </a:rPr>
              <a:t>nube</a:t>
            </a:r>
            <a:r>
              <a:rPr sz="2400" b="0" dirty="0">
                <a:solidFill>
                  <a:srgbClr val="415971"/>
                </a:solidFill>
                <a:latin typeface="Arial"/>
                <a:ea typeface="Arial"/>
                <a:cs typeface="Arial"/>
              </a:rPr>
              <a:t> con </a:t>
            </a:r>
            <a:r>
              <a:rPr sz="2400" b="0" dirty="0" err="1">
                <a:solidFill>
                  <a:srgbClr val="415971"/>
                </a:solidFill>
                <a:latin typeface="Arial"/>
                <a:ea typeface="Arial"/>
                <a:cs typeface="Arial"/>
              </a:rPr>
              <a:t>acceso</a:t>
            </a:r>
            <a:r>
              <a:rPr sz="2400" b="0" dirty="0">
                <a:solidFill>
                  <a:srgbClr val="415971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415971"/>
                </a:solidFill>
                <a:latin typeface="Arial"/>
                <a:ea typeface="Arial"/>
                <a:cs typeface="Arial"/>
              </a:rPr>
              <a:t>por</a:t>
            </a:r>
            <a:r>
              <a:rPr sz="2400" b="0" dirty="0">
                <a:solidFill>
                  <a:srgbClr val="415971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415971"/>
                </a:solidFill>
                <a:latin typeface="Arial"/>
                <a:ea typeface="Arial"/>
                <a:cs typeface="Arial"/>
              </a:rPr>
              <a:t>usuario</a:t>
            </a:r>
            <a:endParaRPr sz="2400" b="0" dirty="0">
              <a:solidFill>
                <a:srgbClr val="415971"/>
              </a:solidFill>
              <a:latin typeface="Arial"/>
              <a:ea typeface="Arial"/>
              <a:cs typeface="Arial"/>
            </a:endParaRPr>
          </a:p>
          <a:p>
            <a:pPr algn="l">
              <a:defRPr sz="24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415971"/>
                </a:solidFill>
                <a:latin typeface="Arial"/>
                <a:ea typeface="Arial"/>
                <a:cs typeface="Arial"/>
              </a:rPr>
              <a:t>y </a:t>
            </a:r>
            <a:r>
              <a:rPr sz="2400" b="0" dirty="0" err="1">
                <a:solidFill>
                  <a:srgbClr val="415971"/>
                </a:solidFill>
                <a:latin typeface="Arial"/>
                <a:ea typeface="Arial"/>
                <a:cs typeface="Arial"/>
              </a:rPr>
              <a:t>seguimiento</a:t>
            </a:r>
            <a:r>
              <a:rPr sz="2400" b="0" dirty="0">
                <a:solidFill>
                  <a:srgbClr val="415971"/>
                </a:solidFill>
                <a:latin typeface="Arial"/>
                <a:ea typeface="Arial"/>
                <a:cs typeface="Arial"/>
              </a:rPr>
              <a:t> del balance y de </a:t>
            </a:r>
            <a:r>
              <a:rPr sz="2400" b="0" dirty="0" err="1">
                <a:solidFill>
                  <a:srgbClr val="415971"/>
                </a:solidFill>
                <a:latin typeface="Arial"/>
                <a:ea typeface="Arial"/>
                <a:cs typeface="Arial"/>
              </a:rPr>
              <a:t>los</a:t>
            </a:r>
            <a:r>
              <a:rPr sz="2400" b="0" dirty="0">
                <a:solidFill>
                  <a:srgbClr val="415971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415971"/>
                </a:solidFill>
                <a:latin typeface="Arial"/>
                <a:ea typeface="Arial"/>
                <a:cs typeface="Arial"/>
              </a:rPr>
              <a:t>límites</a:t>
            </a:r>
            <a:r>
              <a:rPr sz="2400" b="0" dirty="0">
                <a:solidFill>
                  <a:srgbClr val="415971"/>
                </a:solidFill>
                <a:latin typeface="Arial"/>
                <a:ea typeface="Arial"/>
                <a:cs typeface="Arial"/>
              </a:rPr>
              <a:t> de </a:t>
            </a:r>
            <a:r>
              <a:rPr sz="2400" b="0" dirty="0" err="1">
                <a:solidFill>
                  <a:srgbClr val="415971"/>
                </a:solidFill>
                <a:latin typeface="Arial"/>
                <a:ea typeface="Arial"/>
                <a:cs typeface="Arial"/>
              </a:rPr>
              <a:t>gasto</a:t>
            </a:r>
            <a:r>
              <a:rPr sz="2400" b="0" dirty="0">
                <a:solidFill>
                  <a:srgbClr val="41597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31" name="Autoría">
            <a:extLst>
              <a:ext uri="{FF2B5EF4-FFF2-40B4-BE49-F238E27FC236}">
                <a16:creationId xmlns:a16="http://schemas.microsoft.com/office/drawing/2014/main" id="{BA698C65-8214-4CCA-9B64-C6912C3F397C}"/>
              </a:ext>
            </a:extLst>
          </p:cNvPr>
          <p:cNvSpPr>
            <a:spLocks noGrp="1"/>
          </p:cNvSpPr>
          <p:nvPr/>
        </p:nvSpPr>
        <p:spPr>
          <a:xfrm>
            <a:off x="762000" y="6572250"/>
            <a:ext cx="11239500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Bryan Stiven Gallego Betancur</a:t>
            </a:r>
          </a:p>
          <a:p>
            <a:pPr algn="l">
              <a:defRPr sz="187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John Alejandro Alvarez Muñoz</a:t>
            </a:r>
          </a:p>
          <a:p>
            <a:pPr algn="l">
              <a:defRPr sz="187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Daniel Santiago Naranjo Rodriguez</a:t>
            </a:r>
          </a:p>
        </p:txBody>
      </p:sp>
    </p:spTree>
    <p:extLst>
      <p:ext uri="{BB962C8B-B14F-4D97-AF65-F5344CB8AC3E}">
        <p14:creationId xmlns:p14="http://schemas.microsoft.com/office/powerpoint/2010/main" val="568243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657BE39D-62F1-4DC2-9324-83908D36D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49" y="0"/>
            <a:ext cx="15231902" cy="85725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056DE8-9E1A-4B32-ABAF-D8C6C4978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335000" y="462877"/>
            <a:ext cx="1143000" cy="1131646"/>
          </a:xfrm>
          <a:prstGeom prst="rect">
            <a:avLst/>
          </a:prstGeom>
        </p:spPr>
      </p:pic>
      <p:sp>
        <p:nvSpPr>
          <p:cNvPr id="25" name="Entrega">
            <a:extLst>
              <a:ext uri="{FF2B5EF4-FFF2-40B4-BE49-F238E27FC236}">
                <a16:creationId xmlns:a16="http://schemas.microsoft.com/office/drawing/2014/main" id="{9ED16D9A-82B1-49CF-A95B-CA5D3668BC10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181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PROYECTO UCN IIA  /  TALLER ABP  /  ENTREGA 1 (20%)</a:t>
            </a:r>
          </a:p>
        </p:txBody>
      </p:sp>
      <p:sp>
        <p:nvSpPr>
          <p:cNvPr id="26" name="Título">
            <a:extLst>
              <a:ext uri="{FF2B5EF4-FFF2-40B4-BE49-F238E27FC236}">
                <a16:creationId xmlns:a16="http://schemas.microsoft.com/office/drawing/2014/main" id="{863C1FE0-C15E-4D67-9BCA-498A3D9F7744}"/>
              </a:ext>
            </a:extLst>
          </p:cNvPr>
          <p:cNvSpPr>
            <a:spLocks noGrp="1"/>
          </p:cNvSpPr>
          <p:nvPr/>
        </p:nvSpPr>
        <p:spPr>
          <a:xfrm>
            <a:off x="742950" y="942975"/>
            <a:ext cx="12382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50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203A"/>
                </a:solidFill>
                <a:latin typeface="Arial"/>
                <a:ea typeface="Arial"/>
                <a:cs typeface="Arial"/>
              </a:rPr>
              <a:t>Problema y solución</a:t>
            </a:r>
          </a:p>
        </p:txBody>
      </p:sp>
      <p:sp>
        <p:nvSpPr>
          <p:cNvPr id="27" name="Subtítulo">
            <a:extLst>
              <a:ext uri="{FF2B5EF4-FFF2-40B4-BE49-F238E27FC236}">
                <a16:creationId xmlns:a16="http://schemas.microsoft.com/office/drawing/2014/main" id="{8D9A569A-4292-439E-9A84-C0D3D5ED674F}"/>
              </a:ext>
            </a:extLst>
          </p:cNvPr>
          <p:cNvSpPr>
            <a:spLocks noGrp="1"/>
          </p:cNvSpPr>
          <p:nvPr/>
        </p:nvSpPr>
        <p:spPr>
          <a:xfrm>
            <a:off x="762000" y="1828800"/>
            <a:ext cx="12382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El registro disperso dificulta conocer el saldo y controlar el presupuesto</a:t>
            </a:r>
          </a:p>
        </p:txBody>
      </p:sp>
      <p:sp>
        <p:nvSpPr>
          <p:cNvPr id="28" name="Página">
            <a:extLst>
              <a:ext uri="{FF2B5EF4-FFF2-40B4-BE49-F238E27FC236}">
                <a16:creationId xmlns:a16="http://schemas.microsoft.com/office/drawing/2014/main" id="{BCDAD5A4-A83E-45E3-BBCF-47307570A0BD}"/>
              </a:ext>
            </a:extLst>
          </p:cNvPr>
          <p:cNvSpPr>
            <a:spLocks noGrp="1"/>
          </p:cNvSpPr>
          <p:nvPr/>
        </p:nvSpPr>
        <p:spPr>
          <a:xfrm>
            <a:off x="13430250" y="77628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35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2 / 8</a:t>
            </a:r>
          </a:p>
        </p:txBody>
      </p:sp>
      <p:sp>
        <p:nvSpPr>
          <p:cNvPr id="29" name="Registros dispersos">
            <a:extLst>
              <a:ext uri="{FF2B5EF4-FFF2-40B4-BE49-F238E27FC236}">
                <a16:creationId xmlns:a16="http://schemas.microsoft.com/office/drawing/2014/main" id="{F97FAE77-CDAB-478C-ABE0-6C9D2E019094}"/>
              </a:ext>
            </a:extLst>
          </p:cNvPr>
          <p:cNvSpPr>
            <a:spLocks noGrp="1"/>
          </p:cNvSpPr>
          <p:nvPr/>
        </p:nvSpPr>
        <p:spPr>
          <a:xfrm>
            <a:off x="762000" y="2762250"/>
            <a:ext cx="619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Registros dispersos</a:t>
            </a:r>
          </a:p>
        </p:txBody>
      </p:sp>
      <p:sp>
        <p:nvSpPr>
          <p:cNvPr id="30" name="Registros dispersos detalle">
            <a:extLst>
              <a:ext uri="{FF2B5EF4-FFF2-40B4-BE49-F238E27FC236}">
                <a16:creationId xmlns:a16="http://schemas.microsoft.com/office/drawing/2014/main" id="{F11D18E3-1DB0-4E72-82E9-A898B359E0D4}"/>
              </a:ext>
            </a:extLst>
          </p:cNvPr>
          <p:cNvSpPr>
            <a:spLocks noGrp="1"/>
          </p:cNvSpPr>
          <p:nvPr/>
        </p:nvSpPr>
        <p:spPr>
          <a:xfrm>
            <a:off x="762000" y="3314700"/>
            <a:ext cx="6191250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El saldo disponible resulta difícil de consultar.</a:t>
            </a:r>
          </a:p>
          <a:p>
            <a:endParaRPr sz="2250" b="0">
              <a:solidFill>
                <a:srgbClr val="10203A"/>
              </a:solidFill>
              <a:latin typeface="Arial"/>
              <a:ea typeface="Arial"/>
              <a:cs typeface="Arial"/>
            </a:endParaRPr>
          </a:p>
          <a:p>
            <a:pPr algn="l">
              <a:defRPr sz="22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Los excesos de presupuesto se detectan tarde.</a:t>
            </a:r>
          </a:p>
          <a:p>
            <a:endParaRPr sz="2250" b="0">
              <a:solidFill>
                <a:srgbClr val="10203A"/>
              </a:solidFill>
              <a:latin typeface="Arial"/>
              <a:ea typeface="Arial"/>
              <a:cs typeface="Arial"/>
            </a:endParaRPr>
          </a:p>
          <a:p>
            <a:pPr algn="l">
              <a:defRPr sz="22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La información fragmentada limita la visión global.</a:t>
            </a:r>
          </a:p>
        </p:txBody>
      </p:sp>
      <p:sp>
        <p:nvSpPr>
          <p:cNvPr id="31" name="Gestión centralizada">
            <a:extLst>
              <a:ext uri="{FF2B5EF4-FFF2-40B4-BE49-F238E27FC236}">
                <a16:creationId xmlns:a16="http://schemas.microsoft.com/office/drawing/2014/main" id="{DCE17BEE-E6F2-4776-AE64-6BDF5F7085A9}"/>
              </a:ext>
            </a:extLst>
          </p:cNvPr>
          <p:cNvSpPr>
            <a:spLocks noGrp="1"/>
          </p:cNvSpPr>
          <p:nvPr/>
        </p:nvSpPr>
        <p:spPr>
          <a:xfrm>
            <a:off x="8096250" y="2762250"/>
            <a:ext cx="619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Gestión centralizada</a:t>
            </a:r>
          </a:p>
        </p:txBody>
      </p:sp>
      <p:sp>
        <p:nvSpPr>
          <p:cNvPr id="32" name="Gestión centralizada detalle">
            <a:extLst>
              <a:ext uri="{FF2B5EF4-FFF2-40B4-BE49-F238E27FC236}">
                <a16:creationId xmlns:a16="http://schemas.microsoft.com/office/drawing/2014/main" id="{2DF559D0-3B03-4168-8574-1C7BF8014714}"/>
              </a:ext>
            </a:extLst>
          </p:cNvPr>
          <p:cNvSpPr>
            <a:spLocks noGrp="1"/>
          </p:cNvSpPr>
          <p:nvPr/>
        </p:nvSpPr>
        <p:spPr>
          <a:xfrm>
            <a:off x="8096250" y="3314700"/>
            <a:ext cx="6191250" cy="34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Una interfaz web reúne los movimientos.</a:t>
            </a:r>
          </a:p>
          <a:p>
            <a:endParaRPr sz="2250" b="0">
              <a:solidFill>
                <a:srgbClr val="10203A"/>
              </a:solidFill>
              <a:latin typeface="Arial"/>
              <a:ea typeface="Arial"/>
              <a:cs typeface="Arial"/>
            </a:endParaRPr>
          </a:p>
          <a:p>
            <a:pPr algn="l">
              <a:defRPr sz="22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El usuario asigna categorías a ingresos y gastos.</a:t>
            </a:r>
          </a:p>
          <a:p>
            <a:endParaRPr sz="2250" b="0">
              <a:solidFill>
                <a:srgbClr val="10203A"/>
              </a:solidFill>
              <a:latin typeface="Arial"/>
              <a:ea typeface="Arial"/>
              <a:cs typeface="Arial"/>
            </a:endParaRPr>
          </a:p>
          <a:p>
            <a:pPr algn="l">
              <a:defRPr sz="22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Los gráficos y las alertas por reglas SQL apoyan el seguimiento del presupuesto.</a:t>
            </a:r>
          </a:p>
        </p:txBody>
      </p:sp>
      <p:sp>
        <p:nvSpPr>
          <p:cNvPr id="33" name="Nota">
            <a:extLst>
              <a:ext uri="{FF2B5EF4-FFF2-40B4-BE49-F238E27FC236}">
                <a16:creationId xmlns:a16="http://schemas.microsoft.com/office/drawing/2014/main" id="{4F1D07F6-E669-4137-A82A-84068872A99F}"/>
              </a:ext>
            </a:extLst>
          </p:cNvPr>
          <p:cNvSpPr>
            <a:spLocks noGrp="1"/>
          </p:cNvSpPr>
          <p:nvPr/>
        </p:nvSpPr>
        <p:spPr>
          <a:xfrm>
            <a:off x="762000" y="7372350"/>
            <a:ext cx="12287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La categorización automática es una posibilidad futura. La versión actual utiliza categorías seleccionadas por el usuario.</a:t>
            </a:r>
          </a:p>
        </p:txBody>
      </p:sp>
    </p:spTree>
    <p:extLst>
      <p:ext uri="{BB962C8B-B14F-4D97-AF65-F5344CB8AC3E}">
        <p14:creationId xmlns:p14="http://schemas.microsoft.com/office/powerpoint/2010/main" val="568243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657BE39D-62F1-4DC2-9324-83908D36D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49" y="0"/>
            <a:ext cx="15231902" cy="85725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056DE8-9E1A-4B32-ABAF-D8C6C4978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335000" y="462877"/>
            <a:ext cx="1143000" cy="1131646"/>
          </a:xfrm>
          <a:prstGeom prst="rect">
            <a:avLst/>
          </a:prstGeom>
        </p:spPr>
      </p:pic>
      <p:sp>
        <p:nvSpPr>
          <p:cNvPr id="25" name="Entrega">
            <a:extLst>
              <a:ext uri="{FF2B5EF4-FFF2-40B4-BE49-F238E27FC236}">
                <a16:creationId xmlns:a16="http://schemas.microsoft.com/office/drawing/2014/main" id="{955969DC-BA9A-4645-8899-0513397DFCCB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181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PROYECTO UCN IIA  /  TALLER ABP  /  ENTREGA 1 (20%)</a:t>
            </a:r>
          </a:p>
        </p:txBody>
      </p:sp>
      <p:sp>
        <p:nvSpPr>
          <p:cNvPr id="26" name="Título">
            <a:extLst>
              <a:ext uri="{FF2B5EF4-FFF2-40B4-BE49-F238E27FC236}">
                <a16:creationId xmlns:a16="http://schemas.microsoft.com/office/drawing/2014/main" id="{C2D43EDD-FDC0-4191-9A58-A2FF7BADB940}"/>
              </a:ext>
            </a:extLst>
          </p:cNvPr>
          <p:cNvSpPr>
            <a:spLocks noGrp="1"/>
          </p:cNvSpPr>
          <p:nvPr/>
        </p:nvSpPr>
        <p:spPr>
          <a:xfrm>
            <a:off x="742950" y="942975"/>
            <a:ext cx="12382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50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203A"/>
                </a:solidFill>
                <a:latin typeface="Arial"/>
                <a:ea typeface="Arial"/>
                <a:cs typeface="Arial"/>
              </a:rPr>
              <a:t>Funcionalidades principales</a:t>
            </a:r>
          </a:p>
        </p:txBody>
      </p:sp>
      <p:sp>
        <p:nvSpPr>
          <p:cNvPr id="27" name="Subtítulo">
            <a:extLst>
              <a:ext uri="{FF2B5EF4-FFF2-40B4-BE49-F238E27FC236}">
                <a16:creationId xmlns:a16="http://schemas.microsoft.com/office/drawing/2014/main" id="{2EAC65FC-095C-45CD-AFD0-5828946137D2}"/>
              </a:ext>
            </a:extLst>
          </p:cNvPr>
          <p:cNvSpPr>
            <a:spLocks noGrp="1"/>
          </p:cNvSpPr>
          <p:nvPr/>
        </p:nvSpPr>
        <p:spPr>
          <a:xfrm>
            <a:off x="762000" y="1828800"/>
            <a:ext cx="12382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Acceso, gestión financiera y personalización de la interfaz</a:t>
            </a:r>
          </a:p>
        </p:txBody>
      </p:sp>
      <p:sp>
        <p:nvSpPr>
          <p:cNvPr id="28" name="Página">
            <a:extLst>
              <a:ext uri="{FF2B5EF4-FFF2-40B4-BE49-F238E27FC236}">
                <a16:creationId xmlns:a16="http://schemas.microsoft.com/office/drawing/2014/main" id="{6F569E15-46F0-48EE-98AD-A16AC8F9C313}"/>
              </a:ext>
            </a:extLst>
          </p:cNvPr>
          <p:cNvSpPr>
            <a:spLocks noGrp="1"/>
          </p:cNvSpPr>
          <p:nvPr/>
        </p:nvSpPr>
        <p:spPr>
          <a:xfrm>
            <a:off x="13430250" y="77628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35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3 / 8</a:t>
            </a:r>
          </a:p>
        </p:txBody>
      </p:sp>
      <p:sp>
        <p:nvSpPr>
          <p:cNvPr id="29" name="Seguridad y acceso">
            <a:extLst>
              <a:ext uri="{FF2B5EF4-FFF2-40B4-BE49-F238E27FC236}">
                <a16:creationId xmlns:a16="http://schemas.microsoft.com/office/drawing/2014/main" id="{ED8D049F-D8EA-4EC6-BBD6-9843D0C5D0DA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40481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Seguridad y acceso</a:t>
            </a:r>
          </a:p>
        </p:txBody>
      </p:sp>
      <p:sp>
        <p:nvSpPr>
          <p:cNvPr id="30" name="Seguridad y acceso detalle">
            <a:extLst>
              <a:ext uri="{FF2B5EF4-FFF2-40B4-BE49-F238E27FC236}">
                <a16:creationId xmlns:a16="http://schemas.microsoft.com/office/drawing/2014/main" id="{89D6B6CE-3E54-40D6-B2C6-3E779C08F95F}"/>
              </a:ext>
            </a:extLst>
          </p:cNvPr>
          <p:cNvSpPr>
            <a:spLocks noGrp="1"/>
          </p:cNvSpPr>
          <p:nvPr/>
        </p:nvSpPr>
        <p:spPr>
          <a:xfrm>
            <a:off x="762000" y="3409950"/>
            <a:ext cx="4048125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Supabase Auth gestiona</a:t>
            </a:r>
          </a:p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la sesión y los JWT.</a:t>
            </a:r>
          </a:p>
          <a:p>
            <a:endParaRPr sz="2025" b="0">
              <a:solidFill>
                <a:srgbClr val="10203A"/>
              </a:solidFill>
              <a:latin typeface="Arial"/>
              <a:ea typeface="Arial"/>
              <a:cs typeface="Arial"/>
            </a:endParaRPr>
          </a:p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RLS define el acceso</a:t>
            </a:r>
          </a:p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a las filas por usuario.</a:t>
            </a:r>
          </a:p>
          <a:p>
            <a:endParaRPr sz="2025" b="0">
              <a:solidFill>
                <a:srgbClr val="10203A"/>
              </a:solidFill>
              <a:latin typeface="Arial"/>
              <a:ea typeface="Arial"/>
              <a:cs typeface="Arial"/>
            </a:endParaRPr>
          </a:p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El modo exploración usa</a:t>
            </a:r>
          </a:p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datos de ejemplo en memoria.</a:t>
            </a:r>
          </a:p>
        </p:txBody>
      </p:sp>
      <p:sp>
        <p:nvSpPr>
          <p:cNvPr id="31" name="Gestión y análisis">
            <a:extLst>
              <a:ext uri="{FF2B5EF4-FFF2-40B4-BE49-F238E27FC236}">
                <a16:creationId xmlns:a16="http://schemas.microsoft.com/office/drawing/2014/main" id="{9B060346-C742-4E3E-8CCF-B4525F7285FF}"/>
              </a:ext>
            </a:extLst>
          </p:cNvPr>
          <p:cNvSpPr>
            <a:spLocks noGrp="1"/>
          </p:cNvSpPr>
          <p:nvPr/>
        </p:nvSpPr>
        <p:spPr>
          <a:xfrm>
            <a:off x="5476875" y="2857500"/>
            <a:ext cx="40481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Gestión y análisis</a:t>
            </a:r>
          </a:p>
        </p:txBody>
      </p:sp>
      <p:sp>
        <p:nvSpPr>
          <p:cNvPr id="32" name="Gestión y análisis detalle">
            <a:extLst>
              <a:ext uri="{FF2B5EF4-FFF2-40B4-BE49-F238E27FC236}">
                <a16:creationId xmlns:a16="http://schemas.microsoft.com/office/drawing/2014/main" id="{FCAFF057-C87A-4F5F-9E4B-00D6A5860F63}"/>
              </a:ext>
            </a:extLst>
          </p:cNvPr>
          <p:cNvSpPr>
            <a:spLocks noGrp="1"/>
          </p:cNvSpPr>
          <p:nvPr/>
        </p:nvSpPr>
        <p:spPr>
          <a:xfrm>
            <a:off x="5476875" y="3409950"/>
            <a:ext cx="4048125" cy="38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Crear, editar, clonar y</a:t>
            </a:r>
          </a:p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eliminar transacciones.</a:t>
            </a:r>
          </a:p>
          <a:p>
            <a:endParaRPr sz="2025" b="0">
              <a:solidFill>
                <a:srgbClr val="10203A"/>
              </a:solidFill>
              <a:latin typeface="Arial"/>
              <a:ea typeface="Arial"/>
              <a:cs typeface="Arial"/>
            </a:endParaRPr>
          </a:p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Presupuestos mensuales</a:t>
            </a:r>
          </a:p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o anuales, con vigencia</a:t>
            </a:r>
          </a:p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opcional.</a:t>
            </a:r>
          </a:p>
          <a:p>
            <a:endParaRPr sz="2025" b="0">
              <a:solidFill>
                <a:srgbClr val="10203A"/>
              </a:solidFill>
              <a:latin typeface="Arial"/>
              <a:ea typeface="Arial"/>
              <a:cs typeface="Arial"/>
            </a:endParaRPr>
          </a:p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Dashboard por mes,</a:t>
            </a:r>
          </a:p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categoría o rango de fechas.</a:t>
            </a:r>
          </a:p>
        </p:txBody>
      </p:sp>
      <p:sp>
        <p:nvSpPr>
          <p:cNvPr id="33" name="Personalización">
            <a:extLst>
              <a:ext uri="{FF2B5EF4-FFF2-40B4-BE49-F238E27FC236}">
                <a16:creationId xmlns:a16="http://schemas.microsoft.com/office/drawing/2014/main" id="{0F8C44ED-DD86-4170-B34B-58BCB9FBB8BA}"/>
              </a:ext>
            </a:extLst>
          </p:cNvPr>
          <p:cNvSpPr>
            <a:spLocks noGrp="1"/>
          </p:cNvSpPr>
          <p:nvPr/>
        </p:nvSpPr>
        <p:spPr>
          <a:xfrm>
            <a:off x="10191750" y="2857500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Personalización</a:t>
            </a:r>
          </a:p>
        </p:txBody>
      </p:sp>
      <p:sp>
        <p:nvSpPr>
          <p:cNvPr id="34" name="Personalización detalle">
            <a:extLst>
              <a:ext uri="{FF2B5EF4-FFF2-40B4-BE49-F238E27FC236}">
                <a16:creationId xmlns:a16="http://schemas.microsoft.com/office/drawing/2014/main" id="{F7B0ACF4-3DA3-47D5-B1B9-F2D6EBC7450F}"/>
              </a:ext>
            </a:extLst>
          </p:cNvPr>
          <p:cNvSpPr>
            <a:spLocks noGrp="1"/>
          </p:cNvSpPr>
          <p:nvPr/>
        </p:nvSpPr>
        <p:spPr>
          <a:xfrm>
            <a:off x="10191750" y="3409950"/>
            <a:ext cx="4286250" cy="38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Diseño adaptable.</a:t>
            </a:r>
          </a:p>
          <a:p>
            <a:endParaRPr sz="2025" b="0">
              <a:solidFill>
                <a:srgbClr val="10203A"/>
              </a:solidFill>
              <a:latin typeface="Arial"/>
              <a:ea typeface="Arial"/>
              <a:cs typeface="Arial"/>
            </a:endParaRPr>
          </a:p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Cuatro temas: Vidrio, Menta,</a:t>
            </a:r>
          </a:p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Aurora y Profundo.</a:t>
            </a:r>
          </a:p>
          <a:p>
            <a:endParaRPr sz="2025" b="0">
              <a:solidFill>
                <a:srgbClr val="10203A"/>
              </a:solidFill>
              <a:latin typeface="Arial"/>
              <a:ea typeface="Arial"/>
              <a:cs typeface="Arial"/>
            </a:endParaRPr>
          </a:p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Formato monetario</a:t>
            </a:r>
          </a:p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seleccionable, sin convertir</a:t>
            </a:r>
          </a:p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los importes guardados.</a:t>
            </a:r>
          </a:p>
        </p:txBody>
      </p:sp>
      <p:sp>
        <p:nvSpPr>
          <p:cNvPr id="35" name="Nota">
            <a:extLst>
              <a:ext uri="{FF2B5EF4-FFF2-40B4-BE49-F238E27FC236}">
                <a16:creationId xmlns:a16="http://schemas.microsoft.com/office/drawing/2014/main" id="{CCDDF64B-7E80-4E06-9A14-209897CA7A97}"/>
              </a:ext>
            </a:extLst>
          </p:cNvPr>
          <p:cNvSpPr>
            <a:spLocks noGrp="1"/>
          </p:cNvSpPr>
          <p:nvPr/>
        </p:nvSpPr>
        <p:spPr>
          <a:xfrm>
            <a:off x="762000" y="7372350"/>
            <a:ext cx="12287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Las políticas RLS están implementadas. La verificación de aislamiento entre cuentas requiere pruebas de integración.</a:t>
            </a:r>
          </a:p>
        </p:txBody>
      </p:sp>
    </p:spTree>
    <p:extLst>
      <p:ext uri="{BB962C8B-B14F-4D97-AF65-F5344CB8AC3E}">
        <p14:creationId xmlns:p14="http://schemas.microsoft.com/office/powerpoint/2010/main" val="568243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657BE39D-62F1-4DC2-9324-83908D36D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49" y="0"/>
            <a:ext cx="15231902" cy="85725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056DE8-9E1A-4B32-ABAF-D8C6C4978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335000" y="462877"/>
            <a:ext cx="1143000" cy="1131646"/>
          </a:xfrm>
          <a:prstGeom prst="rect">
            <a:avLst/>
          </a:prstGeom>
        </p:spPr>
      </p:pic>
      <p:sp>
        <p:nvSpPr>
          <p:cNvPr id="25" name="Entrega">
            <a:extLst>
              <a:ext uri="{FF2B5EF4-FFF2-40B4-BE49-F238E27FC236}">
                <a16:creationId xmlns:a16="http://schemas.microsoft.com/office/drawing/2014/main" id="{CE2A5048-17A5-4137-8A29-7C8B2135EE03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181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PROYECTO UCN IIA  /  TALLER ABP  /  ENTREGA 1 (20%)</a:t>
            </a:r>
          </a:p>
        </p:txBody>
      </p:sp>
      <p:sp>
        <p:nvSpPr>
          <p:cNvPr id="26" name="Título">
            <a:extLst>
              <a:ext uri="{FF2B5EF4-FFF2-40B4-BE49-F238E27FC236}">
                <a16:creationId xmlns:a16="http://schemas.microsoft.com/office/drawing/2014/main" id="{920D3939-4C64-4D00-9AFF-BFC9B8DEF586}"/>
              </a:ext>
            </a:extLst>
          </p:cNvPr>
          <p:cNvSpPr>
            <a:spLocks noGrp="1"/>
          </p:cNvSpPr>
          <p:nvPr/>
        </p:nvSpPr>
        <p:spPr>
          <a:xfrm>
            <a:off x="742950" y="942975"/>
            <a:ext cx="12382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50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203A"/>
                </a:solidFill>
                <a:latin typeface="Arial"/>
                <a:ea typeface="Arial"/>
                <a:cs typeface="Arial"/>
              </a:rPr>
              <a:t>Arquitectura en la nube</a:t>
            </a:r>
          </a:p>
        </p:txBody>
      </p:sp>
      <p:sp>
        <p:nvSpPr>
          <p:cNvPr id="27" name="Subtítulo">
            <a:extLst>
              <a:ext uri="{FF2B5EF4-FFF2-40B4-BE49-F238E27FC236}">
                <a16:creationId xmlns:a16="http://schemas.microsoft.com/office/drawing/2014/main" id="{0FE9486B-ED15-48AD-BCA5-BD462419C036}"/>
              </a:ext>
            </a:extLst>
          </p:cNvPr>
          <p:cNvSpPr>
            <a:spLocks noGrp="1"/>
          </p:cNvSpPr>
          <p:nvPr/>
        </p:nvSpPr>
        <p:spPr>
          <a:xfrm>
            <a:off x="762000" y="1828800"/>
            <a:ext cx="12382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Vercel entrega la aplicación web y el navegador se comunica con Supabase</a:t>
            </a:r>
          </a:p>
        </p:txBody>
      </p:sp>
      <p:sp>
        <p:nvSpPr>
          <p:cNvPr id="28" name="Página">
            <a:extLst>
              <a:ext uri="{FF2B5EF4-FFF2-40B4-BE49-F238E27FC236}">
                <a16:creationId xmlns:a16="http://schemas.microsoft.com/office/drawing/2014/main" id="{EF5A3643-653B-4AA4-A344-63B3CD59DFD1}"/>
              </a:ext>
            </a:extLst>
          </p:cNvPr>
          <p:cNvSpPr>
            <a:spLocks noGrp="1"/>
          </p:cNvSpPr>
          <p:nvPr/>
        </p:nvSpPr>
        <p:spPr>
          <a:xfrm>
            <a:off x="13430250" y="77628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35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4 / 8</a:t>
            </a:r>
          </a:p>
        </p:txBody>
      </p:sp>
      <p:sp>
        <p:nvSpPr>
          <p:cNvPr id="29" name="GitHub">
            <a:extLst>
              <a:ext uri="{FF2B5EF4-FFF2-40B4-BE49-F238E27FC236}">
                <a16:creationId xmlns:a16="http://schemas.microsoft.com/office/drawing/2014/main" id="{AC9D5F30-49A4-4245-9577-DD25DCE26C16}"/>
              </a:ext>
            </a:extLst>
          </p:cNvPr>
          <p:cNvSpPr>
            <a:spLocks noGrp="1"/>
          </p:cNvSpPr>
          <p:nvPr/>
        </p:nvSpPr>
        <p:spPr>
          <a:xfrm>
            <a:off x="762000" y="3000375"/>
            <a:ext cx="2381250" cy="1047750"/>
          </a:xfrm>
          <a:prstGeom prst="roundRect">
            <a:avLst>
              <a:gd name="adj" fmla="val 13636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FFFFFF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25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A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30" name="Vercel">
            <a:extLst>
              <a:ext uri="{FF2B5EF4-FFF2-40B4-BE49-F238E27FC236}">
                <a16:creationId xmlns:a16="http://schemas.microsoft.com/office/drawing/2014/main" id="{B2F615A1-4E1B-4719-BC9E-A6FA93D0B6C2}"/>
              </a:ext>
            </a:extLst>
          </p:cNvPr>
          <p:cNvSpPr>
            <a:spLocks noGrp="1"/>
          </p:cNvSpPr>
          <p:nvPr/>
        </p:nvSpPr>
        <p:spPr>
          <a:xfrm>
            <a:off x="4000500" y="3000375"/>
            <a:ext cx="2381250" cy="1047750"/>
          </a:xfrm>
          <a:prstGeom prst="roundRect">
            <a:avLst>
              <a:gd name="adj" fmla="val 13636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FFFFFF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25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A"/>
                </a:solidFill>
                <a:latin typeface="Arial"/>
                <a:ea typeface="Arial"/>
                <a:cs typeface="Arial"/>
              </a:rPr>
              <a:t>Vercel</a:t>
            </a:r>
          </a:p>
        </p:txBody>
      </p:sp>
      <p:sp>
        <p:nvSpPr>
          <p:cNvPr id="31" name="Navegador&#10;React">
            <a:extLst>
              <a:ext uri="{FF2B5EF4-FFF2-40B4-BE49-F238E27FC236}">
                <a16:creationId xmlns:a16="http://schemas.microsoft.com/office/drawing/2014/main" id="{CDA7C51C-61E3-4DBE-8EB4-88DF35C1EFEE}"/>
              </a:ext>
            </a:extLst>
          </p:cNvPr>
          <p:cNvSpPr>
            <a:spLocks noGrp="1"/>
          </p:cNvSpPr>
          <p:nvPr/>
        </p:nvSpPr>
        <p:spPr>
          <a:xfrm>
            <a:off x="7239000" y="3000375"/>
            <a:ext cx="2762250" cy="1047750"/>
          </a:xfrm>
          <a:prstGeom prst="roundRect">
            <a:avLst>
              <a:gd name="adj" fmla="val 13636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FFFFFF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25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A"/>
                </a:solidFill>
                <a:latin typeface="Arial"/>
                <a:ea typeface="Arial"/>
                <a:cs typeface="Arial"/>
              </a:rPr>
              <a:t>Navegador</a:t>
            </a:r>
          </a:p>
          <a:p>
            <a:pPr algn="ctr">
              <a:defRPr sz="225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A"/>
                </a:solidFill>
                <a:latin typeface="Arial"/>
                <a:ea typeface="Arial"/>
                <a:cs typeface="Arial"/>
              </a:rPr>
              <a:t>React</a:t>
            </a:r>
          </a:p>
        </p:txBody>
      </p:sp>
      <p:sp>
        <p:nvSpPr>
          <p:cNvPr id="32" name="Supabase">
            <a:extLst>
              <a:ext uri="{FF2B5EF4-FFF2-40B4-BE49-F238E27FC236}">
                <a16:creationId xmlns:a16="http://schemas.microsoft.com/office/drawing/2014/main" id="{EB7E6EF0-C944-47B6-A70F-F55CF2150824}"/>
              </a:ext>
            </a:extLst>
          </p:cNvPr>
          <p:cNvSpPr>
            <a:spLocks noGrp="1"/>
          </p:cNvSpPr>
          <p:nvPr/>
        </p:nvSpPr>
        <p:spPr>
          <a:xfrm>
            <a:off x="10858500" y="3000375"/>
            <a:ext cx="3619500" cy="1047750"/>
          </a:xfrm>
          <a:prstGeom prst="roundRect">
            <a:avLst>
              <a:gd name="adj" fmla="val 13636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FFFFFF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25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A"/>
                </a:solidFill>
                <a:latin typeface="Arial"/>
                <a:ea typeface="Arial"/>
                <a:cs typeface="Arial"/>
              </a:rPr>
              <a:t>Supabase</a:t>
            </a:r>
          </a:p>
        </p:txBody>
      </p:sp>
      <p:sp>
        <p:nvSpPr>
          <p:cNvPr id="33" name="Conexión">
            <a:extLst>
              <a:ext uri="{FF2B5EF4-FFF2-40B4-BE49-F238E27FC236}">
                <a16:creationId xmlns:a16="http://schemas.microsoft.com/office/drawing/2014/main" id="{57E32B55-A30B-44EE-8E83-60ECDEB140D1}"/>
              </a:ext>
            </a:extLst>
          </p:cNvPr>
          <p:cNvSpPr>
            <a:spLocks noGrp="1"/>
          </p:cNvSpPr>
          <p:nvPr/>
        </p:nvSpPr>
        <p:spPr>
          <a:xfrm>
            <a:off x="3219450" y="31908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3375" b="0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3375" b="0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1F6F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4" name="Conexión">
            <a:extLst>
              <a:ext uri="{FF2B5EF4-FFF2-40B4-BE49-F238E27FC236}">
                <a16:creationId xmlns:a16="http://schemas.microsoft.com/office/drawing/2014/main" id="{A05D83EC-9233-4D0E-A1D0-E9F214B3755D}"/>
              </a:ext>
            </a:extLst>
          </p:cNvPr>
          <p:cNvSpPr>
            <a:spLocks noGrp="1"/>
          </p:cNvSpPr>
          <p:nvPr/>
        </p:nvSpPr>
        <p:spPr>
          <a:xfrm>
            <a:off x="6457950" y="31908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3375" b="0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3375" b="0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1F6F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5" name="Conexión">
            <a:extLst>
              <a:ext uri="{FF2B5EF4-FFF2-40B4-BE49-F238E27FC236}">
                <a16:creationId xmlns:a16="http://schemas.microsoft.com/office/drawing/2014/main" id="{4DA076C8-BDD4-4B26-BA69-D901C8968461}"/>
              </a:ext>
            </a:extLst>
          </p:cNvPr>
          <p:cNvSpPr>
            <a:spLocks noGrp="1"/>
          </p:cNvSpPr>
          <p:nvPr/>
        </p:nvSpPr>
        <p:spPr>
          <a:xfrm>
            <a:off x="10077450" y="31908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3375" b="0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3375" b="0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1F6F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6" name="Integración">
            <a:extLst>
              <a:ext uri="{FF2B5EF4-FFF2-40B4-BE49-F238E27FC236}">
                <a16:creationId xmlns:a16="http://schemas.microsoft.com/office/drawing/2014/main" id="{FDA2CECB-AFF3-4F79-AA2A-ACD8E7F5564C}"/>
              </a:ext>
            </a:extLst>
          </p:cNvPr>
          <p:cNvSpPr>
            <a:spLocks noGrp="1"/>
          </p:cNvSpPr>
          <p:nvPr/>
        </p:nvSpPr>
        <p:spPr>
          <a:xfrm>
            <a:off x="762000" y="4314825"/>
            <a:ext cx="23812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875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Integración Git</a:t>
            </a:r>
          </a:p>
          <a:p>
            <a:pPr algn="ctr">
              <a:defRPr sz="1875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y build</a:t>
            </a:r>
          </a:p>
        </p:txBody>
      </p:sp>
      <p:sp>
        <p:nvSpPr>
          <p:cNvPr id="37" name="Entrega HTTPS">
            <a:extLst>
              <a:ext uri="{FF2B5EF4-FFF2-40B4-BE49-F238E27FC236}">
                <a16:creationId xmlns:a16="http://schemas.microsoft.com/office/drawing/2014/main" id="{7DEEE290-B865-4112-9A17-97BF990B3E2B}"/>
              </a:ext>
            </a:extLst>
          </p:cNvPr>
          <p:cNvSpPr>
            <a:spLocks noGrp="1"/>
          </p:cNvSpPr>
          <p:nvPr/>
        </p:nvSpPr>
        <p:spPr>
          <a:xfrm>
            <a:off x="4000500" y="4314825"/>
            <a:ext cx="23812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875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Frontend estático</a:t>
            </a:r>
          </a:p>
          <a:p>
            <a:pPr algn="ctr">
              <a:defRPr sz="1875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entregado por HTTPS</a:t>
            </a:r>
          </a:p>
        </p:txBody>
      </p:sp>
      <p:sp>
        <p:nvSpPr>
          <p:cNvPr id="38" name="Cliente">
            <a:extLst>
              <a:ext uri="{FF2B5EF4-FFF2-40B4-BE49-F238E27FC236}">
                <a16:creationId xmlns:a16="http://schemas.microsoft.com/office/drawing/2014/main" id="{4FCEAE6F-D114-4257-8188-86DD86C87630}"/>
              </a:ext>
            </a:extLst>
          </p:cNvPr>
          <p:cNvSpPr>
            <a:spLocks noGrp="1"/>
          </p:cNvSpPr>
          <p:nvPr/>
        </p:nvSpPr>
        <p:spPr>
          <a:xfrm>
            <a:off x="7239000" y="4314825"/>
            <a:ext cx="27622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875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Sesión y consultas</a:t>
            </a:r>
          </a:p>
          <a:p>
            <a:pPr algn="ctr">
              <a:defRPr sz="1875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con SDK y JWT</a:t>
            </a:r>
          </a:p>
        </p:txBody>
      </p:sp>
      <p:sp>
        <p:nvSpPr>
          <p:cNvPr id="39" name="Backend">
            <a:extLst>
              <a:ext uri="{FF2B5EF4-FFF2-40B4-BE49-F238E27FC236}">
                <a16:creationId xmlns:a16="http://schemas.microsoft.com/office/drawing/2014/main" id="{D9BF48F3-7DE9-47F4-97AE-4B3BCC973DC5}"/>
              </a:ext>
            </a:extLst>
          </p:cNvPr>
          <p:cNvSpPr>
            <a:spLocks noGrp="1"/>
          </p:cNvSpPr>
          <p:nvPr/>
        </p:nvSpPr>
        <p:spPr>
          <a:xfrm>
            <a:off x="10858500" y="4314825"/>
            <a:ext cx="36195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875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Backend administrado</a:t>
            </a:r>
          </a:p>
          <a:p>
            <a:pPr algn="ctr">
              <a:defRPr sz="1875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(BaaS)</a:t>
            </a:r>
          </a:p>
        </p:txBody>
      </p:sp>
      <p:sp>
        <p:nvSpPr>
          <p:cNvPr id="40" name="Supabase Auth">
            <a:extLst>
              <a:ext uri="{FF2B5EF4-FFF2-40B4-BE49-F238E27FC236}">
                <a16:creationId xmlns:a16="http://schemas.microsoft.com/office/drawing/2014/main" id="{CF560274-DFAB-4B6C-BD0B-18E45C40CD4E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40481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Supabase Auth</a:t>
            </a:r>
          </a:p>
        </p:txBody>
      </p:sp>
      <p:sp>
        <p:nvSpPr>
          <p:cNvPr id="41" name="Supabase Auth detalle">
            <a:extLst>
              <a:ext uri="{FF2B5EF4-FFF2-40B4-BE49-F238E27FC236}">
                <a16:creationId xmlns:a16="http://schemas.microsoft.com/office/drawing/2014/main" id="{F6F9FDD5-2345-4E24-AE43-55EF6B6EFCBA}"/>
              </a:ext>
            </a:extLst>
          </p:cNvPr>
          <p:cNvSpPr>
            <a:spLocks noGrp="1"/>
          </p:cNvSpPr>
          <p:nvPr/>
        </p:nvSpPr>
        <p:spPr>
          <a:xfrm>
            <a:off x="762000" y="6172200"/>
            <a:ext cx="4048125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Registro, inicio de sesión</a:t>
            </a:r>
          </a:p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y recuperación de acceso.</a:t>
            </a:r>
          </a:p>
        </p:txBody>
      </p:sp>
      <p:sp>
        <p:nvSpPr>
          <p:cNvPr id="42" name="Data API">
            <a:extLst>
              <a:ext uri="{FF2B5EF4-FFF2-40B4-BE49-F238E27FC236}">
                <a16:creationId xmlns:a16="http://schemas.microsoft.com/office/drawing/2014/main" id="{56DF9FD2-46FD-4E4C-B18F-FE5CAEA989AF}"/>
              </a:ext>
            </a:extLst>
          </p:cNvPr>
          <p:cNvSpPr>
            <a:spLocks noGrp="1"/>
          </p:cNvSpPr>
          <p:nvPr/>
        </p:nvSpPr>
        <p:spPr>
          <a:xfrm>
            <a:off x="5476875" y="5619750"/>
            <a:ext cx="40481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Data API</a:t>
            </a:r>
          </a:p>
        </p:txBody>
      </p:sp>
      <p:sp>
        <p:nvSpPr>
          <p:cNvPr id="43" name="Data API detalle">
            <a:extLst>
              <a:ext uri="{FF2B5EF4-FFF2-40B4-BE49-F238E27FC236}">
                <a16:creationId xmlns:a16="http://schemas.microsoft.com/office/drawing/2014/main" id="{73FD793E-FBFC-4769-AA38-DB0905D82163}"/>
              </a:ext>
            </a:extLst>
          </p:cNvPr>
          <p:cNvSpPr>
            <a:spLocks noGrp="1"/>
          </p:cNvSpPr>
          <p:nvPr/>
        </p:nvSpPr>
        <p:spPr>
          <a:xfrm>
            <a:off x="5476875" y="6172200"/>
            <a:ext cx="4048125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Recibe consultas del cliente</a:t>
            </a:r>
          </a:p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y accede a PostgreSQL.</a:t>
            </a:r>
          </a:p>
        </p:txBody>
      </p:sp>
      <p:sp>
        <p:nvSpPr>
          <p:cNvPr id="44" name="PostgreSQL y RLS">
            <a:extLst>
              <a:ext uri="{FF2B5EF4-FFF2-40B4-BE49-F238E27FC236}">
                <a16:creationId xmlns:a16="http://schemas.microsoft.com/office/drawing/2014/main" id="{22E55F3A-B11D-4FC8-80EE-4505A760D392}"/>
              </a:ext>
            </a:extLst>
          </p:cNvPr>
          <p:cNvSpPr>
            <a:spLocks noGrp="1"/>
          </p:cNvSpPr>
          <p:nvPr/>
        </p:nvSpPr>
        <p:spPr>
          <a:xfrm>
            <a:off x="10191750" y="5619750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PostgreSQL y RLS</a:t>
            </a:r>
          </a:p>
        </p:txBody>
      </p:sp>
      <p:sp>
        <p:nvSpPr>
          <p:cNvPr id="45" name="PostgreSQL y RLS detalle">
            <a:extLst>
              <a:ext uri="{FF2B5EF4-FFF2-40B4-BE49-F238E27FC236}">
                <a16:creationId xmlns:a16="http://schemas.microsoft.com/office/drawing/2014/main" id="{6118FB91-7FE3-4C22-ADD3-741BEFC013C3}"/>
              </a:ext>
            </a:extLst>
          </p:cNvPr>
          <p:cNvSpPr>
            <a:spLocks noGrp="1"/>
          </p:cNvSpPr>
          <p:nvPr/>
        </p:nvSpPr>
        <p:spPr>
          <a:xfrm>
            <a:off x="10191750" y="6172200"/>
            <a:ext cx="42862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Persistencia relacional,</a:t>
            </a:r>
          </a:p>
          <a:p>
            <a:pPr algn="l">
              <a:defRPr sz="2025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políticas de fila y triggers.</a:t>
            </a:r>
          </a:p>
        </p:txBody>
      </p:sp>
      <p:sp>
        <p:nvSpPr>
          <p:cNvPr id="46" name="Nota">
            <a:extLst>
              <a:ext uri="{FF2B5EF4-FFF2-40B4-BE49-F238E27FC236}">
                <a16:creationId xmlns:a16="http://schemas.microsoft.com/office/drawing/2014/main" id="{549C5198-E48C-4795-8263-1A2CF5E6FFF0}"/>
              </a:ext>
            </a:extLst>
          </p:cNvPr>
          <p:cNvSpPr>
            <a:spLocks noGrp="1"/>
          </p:cNvSpPr>
          <p:nvPr/>
        </p:nvSpPr>
        <p:spPr>
          <a:xfrm>
            <a:off x="762000" y="7372350"/>
            <a:ext cx="12287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Las migraciones SQL de Supabase se aplican por separado del despliegue del frontend.</a:t>
            </a:r>
          </a:p>
        </p:txBody>
      </p:sp>
    </p:spTree>
    <p:extLst>
      <p:ext uri="{BB962C8B-B14F-4D97-AF65-F5344CB8AC3E}">
        <p14:creationId xmlns:p14="http://schemas.microsoft.com/office/powerpoint/2010/main" val="568243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657BE39D-62F1-4DC2-9324-83908D36D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49" y="0"/>
            <a:ext cx="15231902" cy="85725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056DE8-9E1A-4B32-ABAF-D8C6C4978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335000" y="462877"/>
            <a:ext cx="1143000" cy="1131646"/>
          </a:xfrm>
          <a:prstGeom prst="rect">
            <a:avLst/>
          </a:prstGeom>
        </p:spPr>
      </p:pic>
      <p:sp>
        <p:nvSpPr>
          <p:cNvPr id="25" name="Entrega">
            <a:extLst>
              <a:ext uri="{FF2B5EF4-FFF2-40B4-BE49-F238E27FC236}">
                <a16:creationId xmlns:a16="http://schemas.microsoft.com/office/drawing/2014/main" id="{EECF54A1-55DB-4573-BCC7-4F9BC9B6B476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181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PROYECTO UCN IIA  /  TALLER ABP  /  ENTREGA 1 (20%)</a:t>
            </a:r>
          </a:p>
        </p:txBody>
      </p:sp>
      <p:sp>
        <p:nvSpPr>
          <p:cNvPr id="26" name="Título">
            <a:extLst>
              <a:ext uri="{FF2B5EF4-FFF2-40B4-BE49-F238E27FC236}">
                <a16:creationId xmlns:a16="http://schemas.microsoft.com/office/drawing/2014/main" id="{B96EB37E-99F2-4840-8798-04A32AE16F4B}"/>
              </a:ext>
            </a:extLst>
          </p:cNvPr>
          <p:cNvSpPr>
            <a:spLocks noGrp="1"/>
          </p:cNvSpPr>
          <p:nvPr/>
        </p:nvSpPr>
        <p:spPr>
          <a:xfrm>
            <a:off x="742950" y="942975"/>
            <a:ext cx="12382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50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203A"/>
                </a:solidFill>
                <a:latin typeface="Arial"/>
                <a:ea typeface="Arial"/>
                <a:cs typeface="Arial"/>
              </a:rPr>
              <a:t>Flujo de alertas</a:t>
            </a:r>
          </a:p>
        </p:txBody>
      </p:sp>
      <p:sp>
        <p:nvSpPr>
          <p:cNvPr id="27" name="Subtítulo">
            <a:extLst>
              <a:ext uri="{FF2B5EF4-FFF2-40B4-BE49-F238E27FC236}">
                <a16:creationId xmlns:a16="http://schemas.microsoft.com/office/drawing/2014/main" id="{1C563828-1D41-4E57-975C-C6035D94ED4C}"/>
              </a:ext>
            </a:extLst>
          </p:cNvPr>
          <p:cNvSpPr>
            <a:spLocks noGrp="1"/>
          </p:cNvSpPr>
          <p:nvPr/>
        </p:nvSpPr>
        <p:spPr>
          <a:xfrm>
            <a:off x="762000" y="1828800"/>
            <a:ext cx="12382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Las reglas de presupuesto generan eventos que la interfaz recibe por Realtime</a:t>
            </a:r>
          </a:p>
        </p:txBody>
      </p:sp>
      <p:sp>
        <p:nvSpPr>
          <p:cNvPr id="28" name="Página">
            <a:extLst>
              <a:ext uri="{FF2B5EF4-FFF2-40B4-BE49-F238E27FC236}">
                <a16:creationId xmlns:a16="http://schemas.microsoft.com/office/drawing/2014/main" id="{8ACDAA81-397C-47C6-8125-FE3F2E6BBA4F}"/>
              </a:ext>
            </a:extLst>
          </p:cNvPr>
          <p:cNvSpPr>
            <a:spLocks noGrp="1"/>
          </p:cNvSpPr>
          <p:nvPr/>
        </p:nvSpPr>
        <p:spPr>
          <a:xfrm>
            <a:off x="13430250" y="77628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35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5 / 8</a:t>
            </a:r>
          </a:p>
        </p:txBody>
      </p:sp>
      <p:sp>
        <p:nvSpPr>
          <p:cNvPr id="29" name="Paso 1">
            <a:extLst>
              <a:ext uri="{FF2B5EF4-FFF2-40B4-BE49-F238E27FC236}">
                <a16:creationId xmlns:a16="http://schemas.microsoft.com/office/drawing/2014/main" id="{05437189-8A06-4BF0-86FF-08DD4591417E}"/>
              </a:ext>
            </a:extLst>
          </p:cNvPr>
          <p:cNvSpPr>
            <a:spLocks noGrp="1"/>
          </p:cNvSpPr>
          <p:nvPr/>
        </p:nvSpPr>
        <p:spPr>
          <a:xfrm>
            <a:off x="762000" y="2809875"/>
            <a:ext cx="30480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20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20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Registro del gasto">
            <a:extLst>
              <a:ext uri="{FF2B5EF4-FFF2-40B4-BE49-F238E27FC236}">
                <a16:creationId xmlns:a16="http://schemas.microsoft.com/office/drawing/2014/main" id="{E4576F9E-7FBD-4138-811D-07543277CD28}"/>
              </a:ext>
            </a:extLst>
          </p:cNvPr>
          <p:cNvSpPr>
            <a:spLocks noGrp="1"/>
          </p:cNvSpPr>
          <p:nvPr/>
        </p:nvSpPr>
        <p:spPr>
          <a:xfrm>
            <a:off x="762000" y="3667125"/>
            <a:ext cx="3048000" cy="952500"/>
          </a:xfrm>
          <a:prstGeom prst="roundRect">
            <a:avLst>
              <a:gd name="adj" fmla="val 15000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FFFFFF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03A"/>
                </a:solidFill>
                <a:latin typeface="Arial"/>
                <a:ea typeface="Arial"/>
                <a:cs typeface="Arial"/>
              </a:rPr>
              <a:t>Registro del gasto</a:t>
            </a:r>
          </a:p>
        </p:txBody>
      </p:sp>
      <p:sp>
        <p:nvSpPr>
          <p:cNvPr id="31" name="Detalle 1">
            <a:extLst>
              <a:ext uri="{FF2B5EF4-FFF2-40B4-BE49-F238E27FC236}">
                <a16:creationId xmlns:a16="http://schemas.microsoft.com/office/drawing/2014/main" id="{94809400-1D2C-4F09-BC6B-F979718B2512}"/>
              </a:ext>
            </a:extLst>
          </p:cNvPr>
          <p:cNvSpPr>
            <a:spLocks noGrp="1"/>
          </p:cNvSpPr>
          <p:nvPr/>
        </p:nvSpPr>
        <p:spPr>
          <a:xfrm>
            <a:off x="762000" y="5000625"/>
            <a:ext cx="304800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El usuario registra</a:t>
            </a:r>
          </a:p>
          <a:p>
            <a: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un gasto que supera</a:t>
            </a:r>
          </a:p>
          <a:p>
            <a: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el presupuesto</a:t>
            </a:r>
          </a:p>
          <a:p>
            <a: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configurado.</a:t>
            </a:r>
          </a:p>
        </p:txBody>
      </p:sp>
      <p:sp>
        <p:nvSpPr>
          <p:cNvPr id="32" name="Conexión">
            <a:extLst>
              <a:ext uri="{FF2B5EF4-FFF2-40B4-BE49-F238E27FC236}">
                <a16:creationId xmlns:a16="http://schemas.microsoft.com/office/drawing/2014/main" id="{B3349A58-150D-4A68-A194-A81FC15BB1F9}"/>
              </a:ext>
            </a:extLst>
          </p:cNvPr>
          <p:cNvSpPr>
            <a:spLocks noGrp="1"/>
          </p:cNvSpPr>
          <p:nvPr/>
        </p:nvSpPr>
        <p:spPr>
          <a:xfrm>
            <a:off x="3810000" y="3790950"/>
            <a:ext cx="47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3375" b="0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3375" b="0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1F6F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3" name="Paso 2">
            <a:extLst>
              <a:ext uri="{FF2B5EF4-FFF2-40B4-BE49-F238E27FC236}">
                <a16:creationId xmlns:a16="http://schemas.microsoft.com/office/drawing/2014/main" id="{E1FDDD85-70F8-4AC8-9AFB-8E7C0F76B6C5}"/>
              </a:ext>
            </a:extLst>
          </p:cNvPr>
          <p:cNvSpPr>
            <a:spLocks noGrp="1"/>
          </p:cNvSpPr>
          <p:nvPr/>
        </p:nvSpPr>
        <p:spPr>
          <a:xfrm>
            <a:off x="4286250" y="2809875"/>
            <a:ext cx="30480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20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20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4" name="Regla en PostgreSQL">
            <a:extLst>
              <a:ext uri="{FF2B5EF4-FFF2-40B4-BE49-F238E27FC236}">
                <a16:creationId xmlns:a16="http://schemas.microsoft.com/office/drawing/2014/main" id="{F0FC1BA4-FD0F-453C-827F-47E09D8B4950}"/>
              </a:ext>
            </a:extLst>
          </p:cNvPr>
          <p:cNvSpPr>
            <a:spLocks noGrp="1"/>
          </p:cNvSpPr>
          <p:nvPr/>
        </p:nvSpPr>
        <p:spPr>
          <a:xfrm>
            <a:off x="4286250" y="3667125"/>
            <a:ext cx="3048000" cy="952500"/>
          </a:xfrm>
          <a:prstGeom prst="roundRect">
            <a:avLst>
              <a:gd name="adj" fmla="val 15000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FFFFFF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03A"/>
                </a:solidFill>
                <a:latin typeface="Arial"/>
                <a:ea typeface="Arial"/>
                <a:cs typeface="Arial"/>
              </a:rPr>
              <a:t>Regla en PostgreSQL</a:t>
            </a:r>
          </a:p>
        </p:txBody>
      </p:sp>
      <p:sp>
        <p:nvSpPr>
          <p:cNvPr id="35" name="Detalle 2">
            <a:extLst>
              <a:ext uri="{FF2B5EF4-FFF2-40B4-BE49-F238E27FC236}">
                <a16:creationId xmlns:a16="http://schemas.microsoft.com/office/drawing/2014/main" id="{EE6E1B02-F053-4E47-9C88-00FB245E2754}"/>
              </a:ext>
            </a:extLst>
          </p:cNvPr>
          <p:cNvSpPr>
            <a:spLocks noGrp="1"/>
          </p:cNvSpPr>
          <p:nvPr/>
        </p:nvSpPr>
        <p:spPr>
          <a:xfrm>
            <a:off x="4286250" y="5000625"/>
            <a:ext cx="304800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El trigger detecta</a:t>
            </a:r>
          </a:p>
          <a:p>
            <a: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el exceso y registra</a:t>
            </a:r>
          </a:p>
          <a:p>
            <a: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el evento en</a:t>
            </a:r>
          </a:p>
          <a:p>
            <a: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alerts_history.</a:t>
            </a:r>
          </a:p>
        </p:txBody>
      </p:sp>
      <p:sp>
        <p:nvSpPr>
          <p:cNvPr id="36" name="Conexión">
            <a:extLst>
              <a:ext uri="{FF2B5EF4-FFF2-40B4-BE49-F238E27FC236}">
                <a16:creationId xmlns:a16="http://schemas.microsoft.com/office/drawing/2014/main" id="{9761AA88-8E9D-42AA-B42D-C8698B340C1E}"/>
              </a:ext>
            </a:extLst>
          </p:cNvPr>
          <p:cNvSpPr>
            <a:spLocks noGrp="1"/>
          </p:cNvSpPr>
          <p:nvPr/>
        </p:nvSpPr>
        <p:spPr>
          <a:xfrm>
            <a:off x="7334250" y="3790950"/>
            <a:ext cx="47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3375" b="0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3375" b="0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1F6F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7" name="Paso 3">
            <a:extLst>
              <a:ext uri="{FF2B5EF4-FFF2-40B4-BE49-F238E27FC236}">
                <a16:creationId xmlns:a16="http://schemas.microsoft.com/office/drawing/2014/main" id="{B37D8D14-7F8E-4241-985B-8F83DC48A7C6}"/>
              </a:ext>
            </a:extLst>
          </p:cNvPr>
          <p:cNvSpPr>
            <a:spLocks noGrp="1"/>
          </p:cNvSpPr>
          <p:nvPr/>
        </p:nvSpPr>
        <p:spPr>
          <a:xfrm>
            <a:off x="7810500" y="2809875"/>
            <a:ext cx="30480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20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20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8" name="Supabase Realtime">
            <a:extLst>
              <a:ext uri="{FF2B5EF4-FFF2-40B4-BE49-F238E27FC236}">
                <a16:creationId xmlns:a16="http://schemas.microsoft.com/office/drawing/2014/main" id="{E7D2FCB3-AF1D-448B-8D97-19E2D959638E}"/>
              </a:ext>
            </a:extLst>
          </p:cNvPr>
          <p:cNvSpPr>
            <a:spLocks noGrp="1"/>
          </p:cNvSpPr>
          <p:nvPr/>
        </p:nvSpPr>
        <p:spPr>
          <a:xfrm>
            <a:off x="7810500" y="3667125"/>
            <a:ext cx="3048000" cy="952500"/>
          </a:xfrm>
          <a:prstGeom prst="roundRect">
            <a:avLst>
              <a:gd name="adj" fmla="val 15000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FFFFFF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03A"/>
                </a:solidFill>
                <a:latin typeface="Arial"/>
                <a:ea typeface="Arial"/>
                <a:cs typeface="Arial"/>
              </a:rPr>
              <a:t>Supabase Realtime</a:t>
            </a:r>
          </a:p>
        </p:txBody>
      </p:sp>
      <p:sp>
        <p:nvSpPr>
          <p:cNvPr id="39" name="Detalle 3">
            <a:extLst>
              <a:ext uri="{FF2B5EF4-FFF2-40B4-BE49-F238E27FC236}">
                <a16:creationId xmlns:a16="http://schemas.microsoft.com/office/drawing/2014/main" id="{FB6C2EBD-9337-4A0D-A525-7862DAD4D68E}"/>
              </a:ext>
            </a:extLst>
          </p:cNvPr>
          <p:cNvSpPr>
            <a:spLocks noGrp="1"/>
          </p:cNvSpPr>
          <p:nvPr/>
        </p:nvSpPr>
        <p:spPr>
          <a:xfrm>
            <a:off x="7810500" y="5000625"/>
            <a:ext cx="304800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La suscripción recibe</a:t>
            </a:r>
          </a:p>
          <a:p>
            <a: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el cambio de la tabla</a:t>
            </a:r>
          </a:p>
          <a:p>
            <a: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y lo transmite</a:t>
            </a:r>
          </a:p>
          <a:p>
            <a: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al navegador.</a:t>
            </a:r>
          </a:p>
        </p:txBody>
      </p:sp>
      <p:sp>
        <p:nvSpPr>
          <p:cNvPr id="40" name="Conexión">
            <a:extLst>
              <a:ext uri="{FF2B5EF4-FFF2-40B4-BE49-F238E27FC236}">
                <a16:creationId xmlns:a16="http://schemas.microsoft.com/office/drawing/2014/main" id="{8E31B698-5B73-4E37-BB43-943C3FF1FD57}"/>
              </a:ext>
            </a:extLst>
          </p:cNvPr>
          <p:cNvSpPr>
            <a:spLocks noGrp="1"/>
          </p:cNvSpPr>
          <p:nvPr/>
        </p:nvSpPr>
        <p:spPr>
          <a:xfrm>
            <a:off x="10858500" y="3790950"/>
            <a:ext cx="47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3375" b="0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3375" b="0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1F6F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1" name="Paso 4">
            <a:extLst>
              <a:ext uri="{FF2B5EF4-FFF2-40B4-BE49-F238E27FC236}">
                <a16:creationId xmlns:a16="http://schemas.microsoft.com/office/drawing/2014/main" id="{7B293C60-847E-41BD-97BC-F3102D6B5E01}"/>
              </a:ext>
            </a:extLst>
          </p:cNvPr>
          <p:cNvSpPr>
            <a:spLocks noGrp="1"/>
          </p:cNvSpPr>
          <p:nvPr/>
        </p:nvSpPr>
        <p:spPr>
          <a:xfrm>
            <a:off x="11334750" y="2809875"/>
            <a:ext cx="30480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20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20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2" name="Aviso en React">
            <a:extLst>
              <a:ext uri="{FF2B5EF4-FFF2-40B4-BE49-F238E27FC236}">
                <a16:creationId xmlns:a16="http://schemas.microsoft.com/office/drawing/2014/main" id="{D2F18A7E-3E90-4DA0-8C5C-A969705F17EA}"/>
              </a:ext>
            </a:extLst>
          </p:cNvPr>
          <p:cNvSpPr>
            <a:spLocks noGrp="1"/>
          </p:cNvSpPr>
          <p:nvPr/>
        </p:nvSpPr>
        <p:spPr>
          <a:xfrm>
            <a:off x="11334750" y="3667125"/>
            <a:ext cx="3048000" cy="952500"/>
          </a:xfrm>
          <a:prstGeom prst="roundRect">
            <a:avLst>
              <a:gd name="adj" fmla="val 15000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FFFFFF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03A"/>
                </a:solidFill>
                <a:latin typeface="Arial"/>
                <a:ea typeface="Arial"/>
                <a:cs typeface="Arial"/>
              </a:rPr>
              <a:t>Aviso en React</a:t>
            </a:r>
          </a:p>
        </p:txBody>
      </p:sp>
      <p:sp>
        <p:nvSpPr>
          <p:cNvPr id="43" name="Detalle 4">
            <a:extLst>
              <a:ext uri="{FF2B5EF4-FFF2-40B4-BE49-F238E27FC236}">
                <a16:creationId xmlns:a16="http://schemas.microsoft.com/office/drawing/2014/main" id="{276B6272-CE64-4619-97E6-C2DCA5E42049}"/>
              </a:ext>
            </a:extLst>
          </p:cNvPr>
          <p:cNvSpPr>
            <a:spLocks noGrp="1"/>
          </p:cNvSpPr>
          <p:nvPr/>
        </p:nvSpPr>
        <p:spPr>
          <a:xfrm>
            <a:off x="11334750" y="5000625"/>
            <a:ext cx="304800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La aplicación recibe</a:t>
            </a:r>
          </a:p>
          <a:p>
            <a: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el evento y muestra</a:t>
            </a:r>
          </a:p>
          <a:p>
            <a: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una notificación</a:t>
            </a:r>
          </a:p>
          <a:p>
            <a: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sin recargar.</a:t>
            </a:r>
          </a:p>
        </p:txBody>
      </p:sp>
      <p:sp>
        <p:nvSpPr>
          <p:cNvPr id="44" name="Nota">
            <a:extLst>
              <a:ext uri="{FF2B5EF4-FFF2-40B4-BE49-F238E27FC236}">
                <a16:creationId xmlns:a16="http://schemas.microsoft.com/office/drawing/2014/main" id="{91F731C5-CECE-41DE-8F00-C44BB46B61A9}"/>
              </a:ext>
            </a:extLst>
          </p:cNvPr>
          <p:cNvSpPr>
            <a:spLocks noGrp="1"/>
          </p:cNvSpPr>
          <p:nvPr/>
        </p:nvSpPr>
        <p:spPr>
          <a:xfrm>
            <a:off x="762000" y="7372350"/>
            <a:ext cx="12287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Las alertas se basan en reglas SQL. No interviene un modelo de IA en este flujo.</a:t>
            </a:r>
          </a:p>
        </p:txBody>
      </p:sp>
    </p:spTree>
    <p:extLst>
      <p:ext uri="{BB962C8B-B14F-4D97-AF65-F5344CB8AC3E}">
        <p14:creationId xmlns:p14="http://schemas.microsoft.com/office/powerpoint/2010/main" val="568243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657BE39D-62F1-4DC2-9324-83908D36D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49" y="0"/>
            <a:ext cx="15231902" cy="85725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056DE8-9E1A-4B32-ABAF-D8C6C4978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335000" y="462877"/>
            <a:ext cx="1143000" cy="1131646"/>
          </a:xfrm>
          <a:prstGeom prst="rect">
            <a:avLst/>
          </a:prstGeom>
        </p:spPr>
      </p:pic>
      <p:sp>
        <p:nvSpPr>
          <p:cNvPr id="25" name="Entrega">
            <a:extLst>
              <a:ext uri="{FF2B5EF4-FFF2-40B4-BE49-F238E27FC236}">
                <a16:creationId xmlns:a16="http://schemas.microsoft.com/office/drawing/2014/main" id="{EEA1D3C1-F660-43AA-86CB-C7EB2CBE3B5B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181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PROYECTO UCN IIA  /  TALLER ABP  /  ENTREGA 1 (20%)</a:t>
            </a:r>
          </a:p>
        </p:txBody>
      </p:sp>
      <p:sp>
        <p:nvSpPr>
          <p:cNvPr id="26" name="Título">
            <a:extLst>
              <a:ext uri="{FF2B5EF4-FFF2-40B4-BE49-F238E27FC236}">
                <a16:creationId xmlns:a16="http://schemas.microsoft.com/office/drawing/2014/main" id="{8721532A-9EF6-4B3D-A2D7-9079BC416A30}"/>
              </a:ext>
            </a:extLst>
          </p:cNvPr>
          <p:cNvSpPr>
            <a:spLocks noGrp="1"/>
          </p:cNvSpPr>
          <p:nvPr/>
        </p:nvSpPr>
        <p:spPr>
          <a:xfrm>
            <a:off x="742950" y="942975"/>
            <a:ext cx="12382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50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203A"/>
                </a:solidFill>
                <a:latin typeface="Arial"/>
                <a:ea typeface="Arial"/>
                <a:cs typeface="Arial"/>
              </a:rPr>
              <a:t>Stack tecnológico</a:t>
            </a:r>
          </a:p>
        </p:txBody>
      </p:sp>
      <p:sp>
        <p:nvSpPr>
          <p:cNvPr id="27" name="Subtítulo">
            <a:extLst>
              <a:ext uri="{FF2B5EF4-FFF2-40B4-BE49-F238E27FC236}">
                <a16:creationId xmlns:a16="http://schemas.microsoft.com/office/drawing/2014/main" id="{E483E32D-2387-4920-B344-2CC3911BE655}"/>
              </a:ext>
            </a:extLst>
          </p:cNvPr>
          <p:cNvSpPr>
            <a:spLocks noGrp="1"/>
          </p:cNvSpPr>
          <p:nvPr/>
        </p:nvSpPr>
        <p:spPr>
          <a:xfrm>
            <a:off x="762000" y="1828800"/>
            <a:ext cx="12382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Tecnologías y responsabilidades de cada capa</a:t>
            </a:r>
          </a:p>
        </p:txBody>
      </p:sp>
      <p:sp>
        <p:nvSpPr>
          <p:cNvPr id="28" name="Página">
            <a:extLst>
              <a:ext uri="{FF2B5EF4-FFF2-40B4-BE49-F238E27FC236}">
                <a16:creationId xmlns:a16="http://schemas.microsoft.com/office/drawing/2014/main" id="{D63EA536-3DFC-471C-8C11-588A136441D9}"/>
              </a:ext>
            </a:extLst>
          </p:cNvPr>
          <p:cNvSpPr>
            <a:spLocks noGrp="1"/>
          </p:cNvSpPr>
          <p:nvPr/>
        </p:nvSpPr>
        <p:spPr>
          <a:xfrm>
            <a:off x="13430250" y="77628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35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6 / 8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BA73E35D-EB20-479B-8A20-27BAA9EEC578}"/>
              </a:ext>
            </a:extLst>
          </p:cNvPr>
          <p:cNvGraphicFramePr/>
          <p:nvPr/>
        </p:nvGraphicFramePr>
        <p:xfrm>
          <a:off x="762000" y="2667000"/>
          <a:ext cx="13716000" cy="4333875"/>
        </p:xfrm>
        <a:graphic>
          <a:graphicData uri="http://schemas.openxmlformats.org/drawingml/2006/table">
            <a:tbl>
              <a:tblPr/>
              <a:tblGrid>
                <a:gridCol w="280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Capa del sistema</a:t>
                      </a:r>
                    </a:p>
                  </a:txBody>
                  <a:tcPr>
                    <a:solidFill>
                      <a:srgbClr val="1F6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Tecnología principal</a:t>
                      </a:r>
                    </a:p>
                  </a:txBody>
                  <a:tcPr>
                    <a:solidFill>
                      <a:srgbClr val="1F6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Implementación y función</a:t>
                      </a:r>
                    </a:p>
                  </a:txBody>
                  <a:tcPr>
                    <a:solidFill>
                      <a:srgbClr val="1F6F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03A"/>
                          </a:solidFill>
                          <a:latin typeface="Arial"/>
                          <a:ea typeface="Arial"/>
                          <a:cs typeface="Arial"/>
                        </a:rPr>
                        <a:t>Interfaz y</a:t>
                      </a:r>
                    </a:p>
                    <a:p>
                      <a:r>
                        <a:rPr sz="1950" b="1">
                          <a:solidFill>
                            <a:srgbClr val="10203A"/>
                          </a:solidFill>
                          <a:latin typeface="Arial"/>
                          <a:ea typeface="Arial"/>
                          <a:cs typeface="Arial"/>
                        </a:rPr>
                        <a:t>visualización</a:t>
                      </a:r>
                    </a:p>
                  </a:txBody>
                  <a:tcPr>
                    <a:solidFill>
                      <a:srgbClr val="FFFFFF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03A"/>
                          </a:solidFill>
                          <a:latin typeface="Arial"/>
                          <a:ea typeface="Arial"/>
                          <a:cs typeface="Arial"/>
                        </a:rPr>
                        <a:t>React 18, Tailwind CSS,</a:t>
                      </a:r>
                    </a:p>
                    <a:p>
                      <a:r>
                        <a:rPr sz="1950" b="0">
                          <a:solidFill>
                            <a:srgbClr val="10203A"/>
                          </a:solidFill>
                          <a:latin typeface="Arial"/>
                          <a:ea typeface="Arial"/>
                          <a:cs typeface="Arial"/>
                        </a:rPr>
                        <a:t>Recharts y Lucide</a:t>
                      </a:r>
                    </a:p>
                  </a:txBody>
                  <a:tcPr>
                    <a:solidFill>
                      <a:srgbClr val="FFFFFF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03A"/>
                          </a:solidFill>
                          <a:latin typeface="Arial"/>
                          <a:ea typeface="Arial"/>
                          <a:cs typeface="Arial"/>
                        </a:rPr>
                        <a:t>Interfaz adaptable, cuatro temas</a:t>
                      </a:r>
                    </a:p>
                    <a:p>
                      <a:r>
                        <a:rPr sz="1950" b="0">
                          <a:solidFill>
                            <a:srgbClr val="10203A"/>
                          </a:solidFill>
                          <a:latin typeface="Arial"/>
                          <a:ea typeface="Arial"/>
                          <a:cs typeface="Arial"/>
                        </a:rPr>
                        <a:t>y gráficos de ingresos, gastos y balance.</a:t>
                      </a:r>
                    </a:p>
                  </a:txBody>
                  <a:tcPr>
                    <a:solidFill>
                      <a:srgbClr val="FFFFFF">
                        <a:alpha val="5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03A"/>
                          </a:solidFill>
                          <a:latin typeface="Arial"/>
                          <a:ea typeface="Arial"/>
                          <a:cs typeface="Arial"/>
                        </a:rPr>
                        <a:t>Estado y</a:t>
                      </a:r>
                    </a:p>
                    <a:p>
                      <a:r>
                        <a:rPr sz="1950" b="1">
                          <a:solidFill>
                            <a:srgbClr val="10203A"/>
                          </a:solidFill>
                          <a:latin typeface="Arial"/>
                          <a:ea typeface="Arial"/>
                          <a:cs typeface="Arial"/>
                        </a:rPr>
                        <a:t>formularios</a:t>
                      </a:r>
                    </a:p>
                  </a:txBody>
                  <a:tcPr>
                    <a:solidFill>
                      <a:srgbClr val="FFFFFF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03A"/>
                          </a:solidFill>
                          <a:latin typeface="Arial"/>
                          <a:ea typeface="Arial"/>
                          <a:cs typeface="Arial"/>
                        </a:rPr>
                        <a:t>Contextos y hooks propios,</a:t>
                      </a:r>
                    </a:p>
                    <a:p>
                      <a:r>
                        <a:rPr sz="1950" b="0">
                          <a:solidFill>
                            <a:srgbClr val="10203A"/>
                          </a:solidFill>
                          <a:latin typeface="Arial"/>
                          <a:ea typeface="Arial"/>
                          <a:cs typeface="Arial"/>
                        </a:rPr>
                        <a:t>React Hook Form y Zod</a:t>
                      </a:r>
                    </a:p>
                  </a:txBody>
                  <a:tcPr>
                    <a:solidFill>
                      <a:srgbClr val="FFFFFF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03A"/>
                          </a:solidFill>
                          <a:latin typeface="Arial"/>
                          <a:ea typeface="Arial"/>
                          <a:cs typeface="Arial"/>
                        </a:rPr>
                        <a:t>Gestión de sesión y estado.</a:t>
                      </a:r>
                    </a:p>
                    <a:p>
                      <a:r>
                        <a:rPr sz="1950" b="0">
                          <a:solidFill>
                            <a:srgbClr val="10203A"/>
                          </a:solidFill>
                          <a:latin typeface="Arial"/>
                          <a:ea typeface="Arial"/>
                          <a:cs typeface="Arial"/>
                        </a:rPr>
                        <a:t>Validación de formularios antes del envío.</a:t>
                      </a:r>
                    </a:p>
                  </a:txBody>
                  <a:tcPr>
                    <a:solidFill>
                      <a:srgbClr val="FFFFFF">
                        <a:alpha val="5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03A"/>
                          </a:solidFill>
                          <a:latin typeface="Arial"/>
                          <a:ea typeface="Arial"/>
                          <a:cs typeface="Arial"/>
                        </a:rPr>
                        <a:t>Backend y</a:t>
                      </a:r>
                    </a:p>
                    <a:p>
                      <a:r>
                        <a:rPr sz="1950" b="1">
                          <a:solidFill>
                            <a:srgbClr val="10203A"/>
                          </a:solidFill>
                          <a:latin typeface="Arial"/>
                          <a:ea typeface="Arial"/>
                          <a:cs typeface="Arial"/>
                        </a:rPr>
                        <a:t>base de datos</a:t>
                      </a:r>
                    </a:p>
                  </a:txBody>
                  <a:tcPr>
                    <a:solidFill>
                      <a:srgbClr val="FFFFFF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03A"/>
                          </a:solidFill>
                          <a:latin typeface="Arial"/>
                          <a:ea typeface="Arial"/>
                          <a:cs typeface="Arial"/>
                        </a:rPr>
                        <a:t>Supabase, PostgreSQL</a:t>
                      </a:r>
                    </a:p>
                    <a:p>
                      <a:r>
                        <a:rPr sz="1950" b="0">
                          <a:solidFill>
                            <a:srgbClr val="10203A"/>
                          </a:solidFill>
                          <a:latin typeface="Arial"/>
                          <a:ea typeface="Arial"/>
                          <a:cs typeface="Arial"/>
                        </a:rPr>
                        <a:t>y PL/pgSQL</a:t>
                      </a:r>
                    </a:p>
                  </a:txBody>
                  <a:tcPr>
                    <a:solidFill>
                      <a:srgbClr val="FFFFFF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03A"/>
                          </a:solidFill>
                          <a:latin typeface="Arial"/>
                          <a:ea typeface="Arial"/>
                          <a:cs typeface="Arial"/>
                        </a:rPr>
                        <a:t>Autenticación, persistencia relacional,</a:t>
                      </a:r>
                    </a:p>
                    <a:p>
                      <a:r>
                        <a:rPr sz="1950" b="0">
                          <a:solidFill>
                            <a:srgbClr val="10203A"/>
                          </a:solidFill>
                          <a:latin typeface="Arial"/>
                          <a:ea typeface="Arial"/>
                          <a:cs typeface="Arial"/>
                        </a:rPr>
                        <a:t>políticas RLS y triggers de presupuesto.</a:t>
                      </a:r>
                    </a:p>
                  </a:txBody>
                  <a:tcPr>
                    <a:solidFill>
                      <a:srgbClr val="FFFFFF">
                        <a:alpha val="5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03A"/>
                          </a:solidFill>
                          <a:latin typeface="Arial"/>
                          <a:ea typeface="Arial"/>
                          <a:cs typeface="Arial"/>
                        </a:rPr>
                        <a:t>Despliegue e</a:t>
                      </a:r>
                    </a:p>
                    <a:p>
                      <a:r>
                        <a:rPr sz="1950" b="1">
                          <a:solidFill>
                            <a:srgbClr val="10203A"/>
                          </a:solidFill>
                          <a:latin typeface="Arial"/>
                          <a:ea typeface="Arial"/>
                          <a:cs typeface="Arial"/>
                        </a:rPr>
                        <a:t>integración</a:t>
                      </a:r>
                    </a:p>
                  </a:txBody>
                  <a:tcPr>
                    <a:solidFill>
                      <a:srgbClr val="FFFFFF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03A"/>
                          </a:solidFill>
                          <a:latin typeface="Arial"/>
                          <a:ea typeface="Arial"/>
                          <a:cs typeface="Arial"/>
                        </a:rPr>
                        <a:t>Vercel y GitHub Actions</a:t>
                      </a:r>
                    </a:p>
                  </a:txBody>
                  <a:tcPr>
                    <a:solidFill>
                      <a:srgbClr val="FFFFFF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03A"/>
                          </a:solidFill>
                          <a:latin typeface="Arial"/>
                          <a:ea typeface="Arial"/>
                          <a:cs typeface="Arial"/>
                        </a:rPr>
                        <a:t>Hosting estático de la SPA</a:t>
                      </a:r>
                    </a:p>
                    <a:p>
                      <a:r>
                        <a:rPr sz="1950" b="0">
                          <a:solidFill>
                            <a:srgbClr val="10203A"/>
                          </a:solidFill>
                          <a:latin typeface="Arial"/>
                          <a:ea typeface="Arial"/>
                          <a:cs typeface="Arial"/>
                        </a:rPr>
                        <a:t>y comprobaciones de calidad en CI.</a:t>
                      </a:r>
                    </a:p>
                  </a:txBody>
                  <a:tcPr>
                    <a:solidFill>
                      <a:srgbClr val="FFFFFF">
                        <a:alpha val="5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Nota">
            <a:extLst>
              <a:ext uri="{FF2B5EF4-FFF2-40B4-BE49-F238E27FC236}">
                <a16:creationId xmlns:a16="http://schemas.microsoft.com/office/drawing/2014/main" id="{F8392920-CB7D-4286-9D54-55F49AE2FF5C}"/>
              </a:ext>
            </a:extLst>
          </p:cNvPr>
          <p:cNvSpPr>
            <a:spLocks noGrp="1"/>
          </p:cNvSpPr>
          <p:nvPr/>
        </p:nvSpPr>
        <p:spPr>
          <a:xfrm>
            <a:off x="762000" y="7372350"/>
            <a:ext cx="12287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TypeScript comprueba los tipos. Vite construye los archivos de producción en dist.</a:t>
            </a:r>
          </a:p>
        </p:txBody>
      </p:sp>
    </p:spTree>
    <p:extLst>
      <p:ext uri="{BB962C8B-B14F-4D97-AF65-F5344CB8AC3E}">
        <p14:creationId xmlns:p14="http://schemas.microsoft.com/office/powerpoint/2010/main" val="568243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657BE39D-62F1-4DC2-9324-83908D36D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49" y="0"/>
            <a:ext cx="15231902" cy="85725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056DE8-9E1A-4B32-ABAF-D8C6C4978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335000" y="462877"/>
            <a:ext cx="1143000" cy="1131646"/>
          </a:xfrm>
          <a:prstGeom prst="rect">
            <a:avLst/>
          </a:prstGeom>
        </p:spPr>
      </p:pic>
      <p:sp>
        <p:nvSpPr>
          <p:cNvPr id="25" name="Entrega">
            <a:extLst>
              <a:ext uri="{FF2B5EF4-FFF2-40B4-BE49-F238E27FC236}">
                <a16:creationId xmlns:a16="http://schemas.microsoft.com/office/drawing/2014/main" id="{E4AFF692-EEB6-4A7B-8F71-EC16C4AA00E3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181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PROYECTO UCN IIA  /  TALLER ABP  /  ENTREGA 1 (20%)</a:t>
            </a:r>
          </a:p>
        </p:txBody>
      </p:sp>
      <p:sp>
        <p:nvSpPr>
          <p:cNvPr id="26" name="Título">
            <a:extLst>
              <a:ext uri="{FF2B5EF4-FFF2-40B4-BE49-F238E27FC236}">
                <a16:creationId xmlns:a16="http://schemas.microsoft.com/office/drawing/2014/main" id="{DA214597-D8D6-491B-9289-9B9596E03355}"/>
              </a:ext>
            </a:extLst>
          </p:cNvPr>
          <p:cNvSpPr>
            <a:spLocks noGrp="1"/>
          </p:cNvSpPr>
          <p:nvPr/>
        </p:nvSpPr>
        <p:spPr>
          <a:xfrm>
            <a:off x="742950" y="942975"/>
            <a:ext cx="12382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50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203A"/>
                </a:solidFill>
                <a:latin typeface="Arial"/>
                <a:ea typeface="Arial"/>
                <a:cs typeface="Arial"/>
              </a:rPr>
              <a:t>Integración y calidad</a:t>
            </a:r>
          </a:p>
        </p:txBody>
      </p:sp>
      <p:sp>
        <p:nvSpPr>
          <p:cNvPr id="27" name="Subtítulo">
            <a:extLst>
              <a:ext uri="{FF2B5EF4-FFF2-40B4-BE49-F238E27FC236}">
                <a16:creationId xmlns:a16="http://schemas.microsoft.com/office/drawing/2014/main" id="{CD34A2EF-2BFB-4DA1-9346-9E52AC7B5F52}"/>
              </a:ext>
            </a:extLst>
          </p:cNvPr>
          <p:cNvSpPr>
            <a:spLocks noGrp="1"/>
          </p:cNvSpPr>
          <p:nvPr/>
        </p:nvSpPr>
        <p:spPr>
          <a:xfrm>
            <a:off x="762000" y="1828800"/>
            <a:ext cx="12382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GitHub Actions y Vercel ejecutan sus procesos a partir de los cambios del repositorio</a:t>
            </a:r>
          </a:p>
        </p:txBody>
      </p:sp>
      <p:sp>
        <p:nvSpPr>
          <p:cNvPr id="28" name="Página">
            <a:extLst>
              <a:ext uri="{FF2B5EF4-FFF2-40B4-BE49-F238E27FC236}">
                <a16:creationId xmlns:a16="http://schemas.microsoft.com/office/drawing/2014/main" id="{50AE44FB-ED86-4CD8-9052-84C55FF60789}"/>
              </a:ext>
            </a:extLst>
          </p:cNvPr>
          <p:cNvSpPr>
            <a:spLocks noGrp="1"/>
          </p:cNvSpPr>
          <p:nvPr/>
        </p:nvSpPr>
        <p:spPr>
          <a:xfrm>
            <a:off x="13430250" y="77628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35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7 / 8</a:t>
            </a:r>
          </a:p>
        </p:txBody>
      </p:sp>
      <p:sp>
        <p:nvSpPr>
          <p:cNvPr id="29" name="1. Desarrollo">
            <a:extLst>
              <a:ext uri="{FF2B5EF4-FFF2-40B4-BE49-F238E27FC236}">
                <a16:creationId xmlns:a16="http://schemas.microsoft.com/office/drawing/2014/main" id="{286999E1-FAF6-48A9-9AAA-429E72A42006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6286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1. Desarrollo</a:t>
            </a:r>
          </a:p>
        </p:txBody>
      </p:sp>
      <p:sp>
        <p:nvSpPr>
          <p:cNvPr id="30" name="1. Desarrollo detalle">
            <a:extLst>
              <a:ext uri="{FF2B5EF4-FFF2-40B4-BE49-F238E27FC236}">
                <a16:creationId xmlns:a16="http://schemas.microsoft.com/office/drawing/2014/main" id="{E3FA1F76-8559-4EA0-BE5E-6600E839B94C}"/>
              </a:ext>
            </a:extLst>
          </p:cNvPr>
          <p:cNvSpPr>
            <a:spLocks noGrp="1"/>
          </p:cNvSpPr>
          <p:nvPr/>
        </p:nvSpPr>
        <p:spPr>
          <a:xfrm>
            <a:off x="762000" y="3267075"/>
            <a:ext cx="6286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Código en TypeScript y commits</a:t>
            </a:r>
          </a:p>
          <a:p>
            <a:pPr algn="l">
              <a:defRPr sz="22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a la rama master en GitHub.</a:t>
            </a:r>
          </a:p>
        </p:txBody>
      </p:sp>
      <p:sp>
        <p:nvSpPr>
          <p:cNvPr id="31" name="2. Validación continua">
            <a:extLst>
              <a:ext uri="{FF2B5EF4-FFF2-40B4-BE49-F238E27FC236}">
                <a16:creationId xmlns:a16="http://schemas.microsoft.com/office/drawing/2014/main" id="{C509F351-ED6D-4832-8045-A518208DD197}"/>
              </a:ext>
            </a:extLst>
          </p:cNvPr>
          <p:cNvSpPr>
            <a:spLocks noGrp="1"/>
          </p:cNvSpPr>
          <p:nvPr/>
        </p:nvSpPr>
        <p:spPr>
          <a:xfrm>
            <a:off x="8096250" y="2714625"/>
            <a:ext cx="6381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2. Validación continua</a:t>
            </a:r>
          </a:p>
        </p:txBody>
      </p:sp>
      <p:sp>
        <p:nvSpPr>
          <p:cNvPr id="32" name="2. Validación continua detalle">
            <a:extLst>
              <a:ext uri="{FF2B5EF4-FFF2-40B4-BE49-F238E27FC236}">
                <a16:creationId xmlns:a16="http://schemas.microsoft.com/office/drawing/2014/main" id="{8E756325-D97A-46ED-8F42-565C740FA61B}"/>
              </a:ext>
            </a:extLst>
          </p:cNvPr>
          <p:cNvSpPr>
            <a:spLocks noGrp="1"/>
          </p:cNvSpPr>
          <p:nvPr/>
        </p:nvSpPr>
        <p:spPr>
          <a:xfrm>
            <a:off x="8096250" y="3267075"/>
            <a:ext cx="6381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GitHub Actions ejecuta npm run lint</a:t>
            </a:r>
          </a:p>
          <a:p>
            <a:pPr algn="l">
              <a:defRPr sz="22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y npm run build. El build incluye</a:t>
            </a:r>
          </a:p>
          <a:p>
            <a:pPr algn="l">
              <a:defRPr sz="22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la comprobación de tipos.</a:t>
            </a:r>
          </a:p>
        </p:txBody>
      </p:sp>
      <p:sp>
        <p:nvSpPr>
          <p:cNvPr id="33" name="3. Despliegue del frontend">
            <a:extLst>
              <a:ext uri="{FF2B5EF4-FFF2-40B4-BE49-F238E27FC236}">
                <a16:creationId xmlns:a16="http://schemas.microsoft.com/office/drawing/2014/main" id="{FD3A554D-2046-4482-A812-D09802A44131}"/>
              </a:ext>
            </a:extLst>
          </p:cNvPr>
          <p:cNvSpPr>
            <a:spLocks noGrp="1"/>
          </p:cNvSpPr>
          <p:nvPr/>
        </p:nvSpPr>
        <p:spPr>
          <a:xfrm>
            <a:off x="762000" y="5095875"/>
            <a:ext cx="6286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3. Despliegue del frontend</a:t>
            </a:r>
          </a:p>
        </p:txBody>
      </p:sp>
      <p:sp>
        <p:nvSpPr>
          <p:cNvPr id="34" name="3. Despliegue del frontend detalle">
            <a:extLst>
              <a:ext uri="{FF2B5EF4-FFF2-40B4-BE49-F238E27FC236}">
                <a16:creationId xmlns:a16="http://schemas.microsoft.com/office/drawing/2014/main" id="{10BCC61C-6A09-4259-9A8B-17397FAB0718}"/>
              </a:ext>
            </a:extLst>
          </p:cNvPr>
          <p:cNvSpPr>
            <a:spLocks noGrp="1"/>
          </p:cNvSpPr>
          <p:nvPr/>
        </p:nvSpPr>
        <p:spPr>
          <a:xfrm>
            <a:off x="762000" y="5648325"/>
            <a:ext cx="6286500" cy="1619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10203A"/>
                </a:solidFill>
                <a:latin typeface="Arial"/>
                <a:ea typeface="Arial"/>
                <a:cs typeface="Arial"/>
              </a:rPr>
              <a:t>Vercel</a:t>
            </a:r>
            <a:r>
              <a:rPr sz="2250" b="0" dirty="0">
                <a:solidFill>
                  <a:srgbClr val="10203A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10203A"/>
                </a:solidFill>
                <a:latin typeface="Arial"/>
                <a:ea typeface="Arial"/>
                <a:cs typeface="Arial"/>
              </a:rPr>
              <a:t>construye</a:t>
            </a:r>
            <a:r>
              <a:rPr sz="2250" b="0" dirty="0">
                <a:solidFill>
                  <a:srgbClr val="10203A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10203A"/>
                </a:solidFill>
                <a:latin typeface="Arial"/>
                <a:ea typeface="Arial"/>
                <a:cs typeface="Arial"/>
              </a:rPr>
              <a:t>dist</a:t>
            </a:r>
            <a:r>
              <a:rPr sz="2250" b="0" dirty="0">
                <a:solidFill>
                  <a:srgbClr val="10203A"/>
                </a:solidFill>
                <a:latin typeface="Arial"/>
                <a:ea typeface="Arial"/>
                <a:cs typeface="Arial"/>
              </a:rPr>
              <a:t> con las variables</a:t>
            </a:r>
          </a:p>
          <a:p>
            <a:pPr algn="l">
              <a:defRPr sz="22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10203A"/>
                </a:solidFill>
                <a:latin typeface="Arial"/>
                <a:ea typeface="Arial"/>
                <a:cs typeface="Arial"/>
              </a:rPr>
              <a:t>públicas</a:t>
            </a:r>
            <a:r>
              <a:rPr sz="2250" b="0" dirty="0">
                <a:solidFill>
                  <a:srgbClr val="10203A"/>
                </a:solidFill>
                <a:latin typeface="Arial"/>
                <a:ea typeface="Arial"/>
                <a:cs typeface="Arial"/>
              </a:rPr>
              <a:t> de </a:t>
            </a:r>
            <a:r>
              <a:rPr sz="2250" b="0" dirty="0" err="1">
                <a:solidFill>
                  <a:srgbClr val="10203A"/>
                </a:solidFill>
                <a:latin typeface="Arial"/>
                <a:ea typeface="Arial"/>
                <a:cs typeface="Arial"/>
              </a:rPr>
              <a:t>Supabase</a:t>
            </a:r>
            <a:r>
              <a:rPr sz="2250" b="0" dirty="0">
                <a:solidFill>
                  <a:srgbClr val="10203A"/>
                </a:solidFill>
                <a:latin typeface="Arial"/>
                <a:ea typeface="Arial"/>
                <a:cs typeface="Arial"/>
              </a:rPr>
              <a:t>. </a:t>
            </a:r>
            <a:r>
              <a:rPr sz="2250" b="0" dirty="0" err="1">
                <a:solidFill>
                  <a:srgbClr val="10203A"/>
                </a:solidFill>
                <a:latin typeface="Arial"/>
                <a:ea typeface="Arial"/>
                <a:cs typeface="Arial"/>
              </a:rPr>
              <a:t>vercel.json</a:t>
            </a:r>
            <a:r>
              <a:rPr sz="2250" b="0" dirty="0">
                <a:solidFill>
                  <a:srgbClr val="10203A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10203A"/>
                </a:solidFill>
                <a:latin typeface="Arial"/>
                <a:ea typeface="Arial"/>
                <a:cs typeface="Arial"/>
              </a:rPr>
              <a:t>permite</a:t>
            </a:r>
            <a:endParaRPr sz="2250" b="0" dirty="0">
              <a:solidFill>
                <a:srgbClr val="10203A"/>
              </a:solidFill>
              <a:latin typeface="Arial"/>
              <a:ea typeface="Arial"/>
              <a:cs typeface="Arial"/>
            </a:endParaRPr>
          </a:p>
          <a:p>
            <a:pPr algn="l">
              <a:defRPr sz="22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10203A"/>
                </a:solidFill>
                <a:latin typeface="Arial"/>
                <a:ea typeface="Arial"/>
                <a:cs typeface="Arial"/>
              </a:rPr>
              <a:t>recargar</a:t>
            </a:r>
            <a:r>
              <a:rPr sz="2250" b="0" dirty="0">
                <a:solidFill>
                  <a:srgbClr val="10203A"/>
                </a:solidFill>
                <a:latin typeface="Arial"/>
                <a:ea typeface="Arial"/>
                <a:cs typeface="Arial"/>
              </a:rPr>
              <a:t> las </a:t>
            </a:r>
            <a:r>
              <a:rPr sz="2250" b="0" dirty="0" err="1">
                <a:solidFill>
                  <a:srgbClr val="10203A"/>
                </a:solidFill>
                <a:latin typeface="Arial"/>
                <a:ea typeface="Arial"/>
                <a:cs typeface="Arial"/>
              </a:rPr>
              <a:t>rutas</a:t>
            </a:r>
            <a:r>
              <a:rPr sz="2250" b="0" dirty="0">
                <a:solidFill>
                  <a:srgbClr val="10203A"/>
                </a:solidFill>
                <a:latin typeface="Arial"/>
                <a:ea typeface="Arial"/>
                <a:cs typeface="Arial"/>
              </a:rPr>
              <a:t> de la SPA.</a:t>
            </a:r>
          </a:p>
        </p:txBody>
      </p:sp>
      <p:sp>
        <p:nvSpPr>
          <p:cNvPr id="35" name="4. Migraciones del backend">
            <a:extLst>
              <a:ext uri="{FF2B5EF4-FFF2-40B4-BE49-F238E27FC236}">
                <a16:creationId xmlns:a16="http://schemas.microsoft.com/office/drawing/2014/main" id="{3410F2FE-4EEE-4BE5-B4A5-0136F4EAF5DD}"/>
              </a:ext>
            </a:extLst>
          </p:cNvPr>
          <p:cNvSpPr>
            <a:spLocks noGrp="1"/>
          </p:cNvSpPr>
          <p:nvPr/>
        </p:nvSpPr>
        <p:spPr>
          <a:xfrm>
            <a:off x="8096250" y="5095875"/>
            <a:ext cx="6381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4. Migraciones del backend</a:t>
            </a:r>
          </a:p>
        </p:txBody>
      </p:sp>
      <p:sp>
        <p:nvSpPr>
          <p:cNvPr id="36" name="4. Migraciones del backend detalle">
            <a:extLst>
              <a:ext uri="{FF2B5EF4-FFF2-40B4-BE49-F238E27FC236}">
                <a16:creationId xmlns:a16="http://schemas.microsoft.com/office/drawing/2014/main" id="{E058CD4F-4A56-4EB9-8B59-637DAB7F29C5}"/>
              </a:ext>
            </a:extLst>
          </p:cNvPr>
          <p:cNvSpPr>
            <a:spLocks noGrp="1"/>
          </p:cNvSpPr>
          <p:nvPr/>
        </p:nvSpPr>
        <p:spPr>
          <a:xfrm>
            <a:off x="8096250" y="5648325"/>
            <a:ext cx="6381750" cy="1619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Supabase aplica los archivos SQL</a:t>
            </a:r>
          </a:p>
          <a:p>
            <a:pPr algn="l">
              <a:defRPr sz="22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versionados 0001, 0002 y 0003.</a:t>
            </a:r>
          </a:p>
          <a:p>
            <a:pPr algn="l">
              <a:defRPr sz="22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Este proceso se realiza por separado.</a:t>
            </a:r>
          </a:p>
        </p:txBody>
      </p:sp>
      <p:sp>
        <p:nvSpPr>
          <p:cNvPr id="37" name="Nota">
            <a:extLst>
              <a:ext uri="{FF2B5EF4-FFF2-40B4-BE49-F238E27FC236}">
                <a16:creationId xmlns:a16="http://schemas.microsoft.com/office/drawing/2014/main" id="{F7B76638-8307-4D28-9155-303A9E8CEF44}"/>
              </a:ext>
            </a:extLst>
          </p:cNvPr>
          <p:cNvSpPr>
            <a:spLocks noGrp="1"/>
          </p:cNvSpPr>
          <p:nvPr/>
        </p:nvSpPr>
        <p:spPr>
          <a:xfrm>
            <a:off x="762000" y="7372350"/>
            <a:ext cx="12287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CI y despliegue son procesos independientes. Las variables VITE_* son públicas y nunca deben contener claves administrativas.</a:t>
            </a:r>
          </a:p>
        </p:txBody>
      </p:sp>
    </p:spTree>
    <p:extLst>
      <p:ext uri="{BB962C8B-B14F-4D97-AF65-F5344CB8AC3E}">
        <p14:creationId xmlns:p14="http://schemas.microsoft.com/office/powerpoint/2010/main" val="568243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657BE39D-62F1-4DC2-9324-83908D36D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49" y="0"/>
            <a:ext cx="15231902" cy="85725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056DE8-9E1A-4B32-ABAF-D8C6C4978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335000" y="462877"/>
            <a:ext cx="1143000" cy="1131646"/>
          </a:xfrm>
          <a:prstGeom prst="rect">
            <a:avLst/>
          </a:prstGeom>
        </p:spPr>
      </p:pic>
      <p:sp>
        <p:nvSpPr>
          <p:cNvPr id="25" name="Entrega">
            <a:extLst>
              <a:ext uri="{FF2B5EF4-FFF2-40B4-BE49-F238E27FC236}">
                <a16:creationId xmlns:a16="http://schemas.microsoft.com/office/drawing/2014/main" id="{1304D4E8-B6E3-4266-9195-D4323688A24E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181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PROYECTO UCN IIA  /  TALLER ABP  /  ENTREGA 1 (20%)</a:t>
            </a:r>
          </a:p>
        </p:txBody>
      </p:sp>
      <p:sp>
        <p:nvSpPr>
          <p:cNvPr id="26" name="Título">
            <a:extLst>
              <a:ext uri="{FF2B5EF4-FFF2-40B4-BE49-F238E27FC236}">
                <a16:creationId xmlns:a16="http://schemas.microsoft.com/office/drawing/2014/main" id="{3412F24A-F53E-45AC-A574-D612B84F8E21}"/>
              </a:ext>
            </a:extLst>
          </p:cNvPr>
          <p:cNvSpPr>
            <a:spLocks noGrp="1"/>
          </p:cNvSpPr>
          <p:nvPr/>
        </p:nvSpPr>
        <p:spPr>
          <a:xfrm>
            <a:off x="742950" y="942975"/>
            <a:ext cx="12382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50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203A"/>
                </a:solidFill>
                <a:latin typeface="Arial"/>
                <a:ea typeface="Arial"/>
                <a:cs typeface="Arial"/>
              </a:rPr>
              <a:t>Estado del proyecto y acceso</a:t>
            </a:r>
          </a:p>
        </p:txBody>
      </p:sp>
      <p:sp>
        <p:nvSpPr>
          <p:cNvPr id="27" name="Subtítulo">
            <a:extLst>
              <a:ext uri="{FF2B5EF4-FFF2-40B4-BE49-F238E27FC236}">
                <a16:creationId xmlns:a16="http://schemas.microsoft.com/office/drawing/2014/main" id="{B09E438A-DD0C-4469-BE04-361391116DFA}"/>
              </a:ext>
            </a:extLst>
          </p:cNvPr>
          <p:cNvSpPr>
            <a:spLocks noGrp="1"/>
          </p:cNvSpPr>
          <p:nvPr/>
        </p:nvSpPr>
        <p:spPr>
          <a:xfrm>
            <a:off x="762000" y="1828800"/>
            <a:ext cx="12382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Frontend publicado en Vercel y repositorio público en GitHub</a:t>
            </a:r>
          </a:p>
        </p:txBody>
      </p:sp>
      <p:sp>
        <p:nvSpPr>
          <p:cNvPr id="28" name="Página">
            <a:extLst>
              <a:ext uri="{FF2B5EF4-FFF2-40B4-BE49-F238E27FC236}">
                <a16:creationId xmlns:a16="http://schemas.microsoft.com/office/drawing/2014/main" id="{49154E53-7170-43C0-A9F9-28753B183FF1}"/>
              </a:ext>
            </a:extLst>
          </p:cNvPr>
          <p:cNvSpPr>
            <a:spLocks noGrp="1"/>
          </p:cNvSpPr>
          <p:nvPr/>
        </p:nvSpPr>
        <p:spPr>
          <a:xfrm>
            <a:off x="13430250" y="77628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35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8 / 8</a:t>
            </a:r>
          </a:p>
        </p:txBody>
      </p:sp>
      <p:sp>
        <p:nvSpPr>
          <p:cNvPr id="29" name="Aplicación y demo">
            <a:extLst>
              <a:ext uri="{FF2B5EF4-FFF2-40B4-BE49-F238E27FC236}">
                <a16:creationId xmlns:a16="http://schemas.microsoft.com/office/drawing/2014/main" id="{E635D4B5-6EC6-4C34-89C3-99A9F749424E}"/>
              </a:ext>
            </a:extLst>
          </p:cNvPr>
          <p:cNvSpPr>
            <a:spLocks noGrp="1"/>
          </p:cNvSpPr>
          <p:nvPr/>
        </p:nvSpPr>
        <p:spPr>
          <a:xfrm>
            <a:off x="762000" y="2762250"/>
            <a:ext cx="7334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Aplicación y demo</a:t>
            </a:r>
          </a:p>
        </p:txBody>
      </p:sp>
      <p:sp>
        <p:nvSpPr>
          <p:cNvPr id="30" name="Aplicación y demo detalle">
            <a:extLst>
              <a:ext uri="{FF2B5EF4-FFF2-40B4-BE49-F238E27FC236}">
                <a16:creationId xmlns:a16="http://schemas.microsoft.com/office/drawing/2014/main" id="{0E3501C5-FA67-4BBF-B080-384D8FB4B4AB}"/>
              </a:ext>
            </a:extLst>
          </p:cNvPr>
          <p:cNvSpPr>
            <a:spLocks noGrp="1"/>
          </p:cNvSpPr>
          <p:nvPr/>
        </p:nvSpPr>
        <p:spPr>
          <a:xfrm>
            <a:off x="762000" y="3314700"/>
            <a:ext cx="733425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personal-finance-taupe-psi.vercel.app</a:t>
            </a:r>
          </a:p>
          <a:p>
            <a:endParaRPr sz="2100" b="0">
              <a:solidFill>
                <a:srgbClr val="10203A"/>
              </a:solidFill>
              <a:latin typeface="Arial"/>
              <a:ea typeface="Arial"/>
              <a:cs typeface="Arial"/>
            </a:endParaRPr>
          </a:p>
          <a:p>
            <a: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La ruta /explore/dashboard permite</a:t>
            </a:r>
          </a:p>
          <a:p>
            <a:pPr algn="l">
              <a:defRPr sz="210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probar la interfaz con datos de ejemplo.</a:t>
            </a:r>
          </a:p>
        </p:txBody>
      </p:sp>
      <p:sp>
        <p:nvSpPr>
          <p:cNvPr id="31" name="Código y entrega">
            <a:extLst>
              <a:ext uri="{FF2B5EF4-FFF2-40B4-BE49-F238E27FC236}">
                <a16:creationId xmlns:a16="http://schemas.microsoft.com/office/drawing/2014/main" id="{D3C911A1-7570-4DB4-9432-FC88BE639367}"/>
              </a:ext>
            </a:extLst>
          </p:cNvPr>
          <p:cNvSpPr>
            <a:spLocks noGrp="1"/>
          </p:cNvSpPr>
          <p:nvPr/>
        </p:nvSpPr>
        <p:spPr>
          <a:xfrm>
            <a:off x="762000" y="5048250"/>
            <a:ext cx="7334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1F6F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6F5F"/>
                </a:solidFill>
                <a:latin typeface="Arial"/>
                <a:ea typeface="Arial"/>
                <a:cs typeface="Arial"/>
              </a:rPr>
              <a:t>Código y entrega</a:t>
            </a:r>
          </a:p>
        </p:txBody>
      </p:sp>
      <p:sp>
        <p:nvSpPr>
          <p:cNvPr id="32" name="Código y entrega detalle">
            <a:extLst>
              <a:ext uri="{FF2B5EF4-FFF2-40B4-BE49-F238E27FC236}">
                <a16:creationId xmlns:a16="http://schemas.microsoft.com/office/drawing/2014/main" id="{D88FB8FC-5B98-4157-94A9-4DB441830BB5}"/>
              </a:ext>
            </a:extLst>
          </p:cNvPr>
          <p:cNvSpPr>
            <a:spLocks noGrp="1"/>
          </p:cNvSpPr>
          <p:nvPr/>
        </p:nvSpPr>
        <p:spPr>
          <a:xfrm>
            <a:off x="762000" y="5600700"/>
            <a:ext cx="733425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github.com/bryangallegobetancur/Personal-finance</a:t>
            </a:r>
          </a:p>
          <a:p>
            <a:endParaRPr sz="1950" b="0">
              <a:solidFill>
                <a:srgbClr val="10203A"/>
              </a:solidFill>
              <a:latin typeface="Arial"/>
              <a:ea typeface="Arial"/>
              <a:cs typeface="Arial"/>
            </a:endParaRPr>
          </a:p>
          <a:p>
            <a:pPr algn="l">
              <a:defRPr sz="19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Código público. Presentación y soporte</a:t>
            </a:r>
          </a:p>
          <a:p>
            <a:pPr algn="l">
              <a:defRPr sz="1950" b="0">
                <a:solidFill>
                  <a:srgbClr val="1020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03A"/>
                </a:solidFill>
                <a:latin typeface="Arial"/>
                <a:ea typeface="Arial"/>
                <a:cs typeface="Arial"/>
              </a:rPr>
              <a:t>técnico disponibles en docs/.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37A929-68FA-4F01-B7FB-4F148D414D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52775" y="2619375"/>
            <a:ext cx="5183075" cy="4048125"/>
          </a:xfrm>
          <a:prstGeom prst="rect">
            <a:avLst/>
          </a:prstGeom>
        </p:spPr>
      </p:pic>
      <p:sp>
        <p:nvSpPr>
          <p:cNvPr id="34" name="Captura">
            <a:extLst>
              <a:ext uri="{FF2B5EF4-FFF2-40B4-BE49-F238E27FC236}">
                <a16:creationId xmlns:a16="http://schemas.microsoft.com/office/drawing/2014/main" id="{C657B292-13EC-4D87-B74B-D75FC91BF228}"/>
              </a:ext>
            </a:extLst>
          </p:cNvPr>
          <p:cNvSpPr>
            <a:spLocks noGrp="1"/>
          </p:cNvSpPr>
          <p:nvPr/>
        </p:nvSpPr>
        <p:spPr>
          <a:xfrm>
            <a:off x="9048750" y="6858000"/>
            <a:ext cx="51911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425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425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Captura de la demo pública con datos de ejemplo.</a:t>
            </a:r>
          </a:p>
        </p:txBody>
      </p:sp>
      <p:sp>
        <p:nvSpPr>
          <p:cNvPr id="35" name="Nota">
            <a:extLst>
              <a:ext uri="{FF2B5EF4-FFF2-40B4-BE49-F238E27FC236}">
                <a16:creationId xmlns:a16="http://schemas.microsoft.com/office/drawing/2014/main" id="{77D73A8A-CE69-41F2-838E-0995422594CF}"/>
              </a:ext>
            </a:extLst>
          </p:cNvPr>
          <p:cNvSpPr>
            <a:spLocks noGrp="1"/>
          </p:cNvSpPr>
          <p:nvPr/>
        </p:nvSpPr>
        <p:spPr>
          <a:xfrm>
            <a:off x="762000" y="7372350"/>
            <a:ext cx="12287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4159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5971"/>
                </a:solidFill>
                <a:latin typeface="Arial"/>
                <a:ea typeface="Arial"/>
                <a:cs typeface="Arial"/>
              </a:rPr>
              <a:t>Auth y RLS implementados. Pruebas cloud pendientes. IA utilizada como apoyo al desarrollo, sin modelos en ejecución.</a:t>
            </a:r>
          </a:p>
        </p:txBody>
      </p:sp>
    </p:spTree>
    <p:extLst>
      <p:ext uri="{BB962C8B-B14F-4D97-AF65-F5344CB8AC3E}">
        <p14:creationId xmlns:p14="http://schemas.microsoft.com/office/powerpoint/2010/main" val="5682436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1511</Words>
  <Application>Microsoft Office PowerPoint</Application>
  <DocSecurity>0</DocSecurity>
  <PresentationFormat>Custom</PresentationFormat>
  <Paragraphs>205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Bryan Gallego</cp:lastModifiedBy>
  <cp:revision>1</cp:revision>
  <dcterms:created xsi:type="dcterms:W3CDTF">2026-10-11T16:52:23Z</dcterms:created>
  <dcterms:modified xsi:type="dcterms:W3CDTF">2026-10-11T17:00:43Z</dcterms:modified>
</cp:coreProperties>
</file>