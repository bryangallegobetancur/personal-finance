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2a8fa653724a9a" /><Relationship Type="http://schemas.openxmlformats.org/officeDocument/2006/relationships/extended-properties" Target="/docProps/app.xml" Id="Rb39b9bb31c584fbe" /><Relationship Type="http://schemas.openxmlformats.org/officeDocument/2006/relationships/officeDocument" Target="/ppt/presentation.xml" Id="R5c8d06290a6947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88f50784a546d7"/>
  </p:sldMasterIdLst>
  <p:notesMasterIdLst>
    <p:notesMasterId xmlns:r="http://schemas.openxmlformats.org/officeDocument/2006/relationships" r:id="R75f9438cc5d24699"/>
  </p:notesMasterIdLst>
  <p:sldIdLst>
    <p:sldId xmlns:r="http://schemas.openxmlformats.org/officeDocument/2006/relationships" id="256" r:id="Rb6ca8852dd574f3a"/>
    <p:sldId xmlns:r="http://schemas.openxmlformats.org/officeDocument/2006/relationships" id="257" r:id="Re6d0a1469bf6402e"/>
    <p:sldId xmlns:r="http://schemas.openxmlformats.org/officeDocument/2006/relationships" id="258" r:id="R2db940199678408d"/>
    <p:sldId xmlns:r="http://schemas.openxmlformats.org/officeDocument/2006/relationships" id="259" r:id="R954f8bbd8a4c4c79"/>
    <p:sldId xmlns:r="http://schemas.openxmlformats.org/officeDocument/2006/relationships" id="260" r:id="Rec5ff6eb24b54912"/>
    <p:sldId xmlns:r="http://schemas.openxmlformats.org/officeDocument/2006/relationships" id="261" r:id="Rf6888e5324b84f8e"/>
    <p:sldId xmlns:r="http://schemas.openxmlformats.org/officeDocument/2006/relationships" id="262" r:id="Rb25b537bf69847a3"/>
    <p:sldId xmlns:r="http://schemas.openxmlformats.org/officeDocument/2006/relationships" id="263" r:id="R259d69bd3b2842d8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358cc053d74dc5" /><Relationship Type="http://schemas.openxmlformats.org/officeDocument/2006/relationships/slideMaster" Target="/ppt/slideMasters/slideMaster1.xml" Id="R0688f50784a546d7" /><Relationship Type="http://schemas.openxmlformats.org/officeDocument/2006/relationships/notesMaster" Target="/ppt/notesMasters/notesMaster1.xml" Id="R75f9438cc5d24699" /><Relationship Type="http://schemas.openxmlformats.org/officeDocument/2006/relationships/presProps" Target="/ppt/presProps.xml" Id="Rc7acd2ad1f3e4165" /><Relationship Type="http://schemas.openxmlformats.org/officeDocument/2006/relationships/tableStyles" Target="/ppt/tableStyles.xml" Id="Rc100dad82f184b37" /><Relationship Type="http://schemas.openxmlformats.org/officeDocument/2006/relationships/slide" Target="/ppt/slides/slide1.xml" Id="Rb6ca8852dd574f3a" /><Relationship Type="http://schemas.openxmlformats.org/officeDocument/2006/relationships/slide" Target="/ppt/slides/slide2.xml" Id="Re6d0a1469bf6402e" /><Relationship Type="http://schemas.openxmlformats.org/officeDocument/2006/relationships/slide" Target="/ppt/slides/slide3.xml" Id="R2db940199678408d" /><Relationship Type="http://schemas.openxmlformats.org/officeDocument/2006/relationships/slide" Target="/ppt/slides/slide4.xml" Id="R954f8bbd8a4c4c79" /><Relationship Type="http://schemas.openxmlformats.org/officeDocument/2006/relationships/slide" Target="/ppt/slides/slide5.xml" Id="Rec5ff6eb24b54912" /><Relationship Type="http://schemas.openxmlformats.org/officeDocument/2006/relationships/slide" Target="/ppt/slides/slide6.xml" Id="Rf6888e5324b84f8e" /><Relationship Type="http://schemas.openxmlformats.org/officeDocument/2006/relationships/slide" Target="/ppt/slides/slide7.xml" Id="Rb25b537bf69847a3" /><Relationship Type="http://schemas.openxmlformats.org/officeDocument/2006/relationships/slide" Target="/ppt/slides/slide8.xml" Id="R259d69bd3b2842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178e8d7f7a4a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458878e92f4815" /><Relationship Type="http://schemas.openxmlformats.org/officeDocument/2006/relationships/notesMaster" Target="/ppt/notesMasters/notesMaster1.xml" Id="Recee7b4db1de44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8ac3096a7c4810" /><Relationship Type="http://schemas.openxmlformats.org/officeDocument/2006/relationships/notesMaster" Target="/ppt/notesMasters/notesMaster1.xml" Id="Rede83d9ffc134f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7e172d18764937" /><Relationship Type="http://schemas.openxmlformats.org/officeDocument/2006/relationships/notesMaster" Target="/ppt/notesMasters/notesMaster1.xml" Id="Ree1f7fc7bc844b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c513d257eb4747" /><Relationship Type="http://schemas.openxmlformats.org/officeDocument/2006/relationships/notesMaster" Target="/ppt/notesMasters/notesMaster1.xml" Id="R4d34405ebc0346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f8330cc10f4253" /><Relationship Type="http://schemas.openxmlformats.org/officeDocument/2006/relationships/notesMaster" Target="/ppt/notesMasters/notesMaster1.xml" Id="R645dca4ad37940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6b91d8d9cb479c" /><Relationship Type="http://schemas.openxmlformats.org/officeDocument/2006/relationships/notesMaster" Target="/ppt/notesMasters/notesMaster1.xml" Id="R9f3102e9b17741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560675798b49dc" /><Relationship Type="http://schemas.openxmlformats.org/officeDocument/2006/relationships/notesMaster" Target="/ppt/notesMasters/notesMaster1.xml" Id="R1922ae155e9741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bf66394c6c2451d" /><Relationship Type="http://schemas.openxmlformats.org/officeDocument/2006/relationships/notesMaster" Target="/ppt/notesMasters/notesMaster1.xml" Id="R3ada3d2949584d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 contenido: docs/Finanzas_Personales.pptx, diapositiva 1. Referencia visual: presentación Vidrio del proyecto.</a:t>
            </a:r>
          </a:p>
          <a:p xmlns:a="http://schemas.openxmlformats.org/drawingml/2006/main">
            <a:r>
              <a:t>La aplicación usa reglas SQL para las alertas. El apoyo de IA al desarrollo y el análisis ético se explican en docs/IA_Y_ETICA.md. No ejecuta modelos de 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 contenido: docs/Finanzas_Personales.pptx, diapositiva 2. Referencia visual: presentación Vidrio del proyecto.</a:t>
            </a:r>
          </a:p>
          <a:p xmlns:a="http://schemas.openxmlformats.org/drawingml/2006/main">
            <a:r>
              <a:t>La fuente menciona categorización automática. El código actual usa selección manual, por lo que se corrige esa afirmación. Véanse src/components/transactions y docs/IA_Y_ETICA.md.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 contenido: docs/Finanzas_Personales.pptx, diapositiva 3. Referencia visual: presentación Vidrio del proyecto.</a:t>
            </a:r>
          </a:p>
          <a:p xmlns:a="http://schemas.openxmlformats.org/drawingml/2006/main">
            <a:r>
              <a:t>Fuentes de contraste: docs/ARQUITECTURA.md, src/contexts y supabase/migrations. Se elimina la garantía absoluta de aislamiento y la afirmación de diseño 100% adaptable.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 contenido: docs/Finanzas_Personales.pptx, diapositiva 4. Referencia visual: presentación Vidrio del proyecto.</a:t>
            </a:r>
          </a:p>
          <a:p xmlns:a="http://schemas.openxmlformats.org/drawingml/2006/main">
            <a:r>
              <a:t>Flujo técnico: GitHub activa el build de Vercel. Vercel sirve archivos al navegador. El navegador utiliza Supabase Auth para la sesión y Data API para consultar PostgreSQL bajo RLS. Fuentes: docs/ARQUITECTURA.md y vercel.json.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 contenido: docs/Finanzas_Personales.pptx, diapositiva 5. Referencia visual: presentación Vidrio del proyecto.</a:t>
            </a:r>
          </a:p>
          <a:p xmlns:a="http://schemas.openxmlformats.org/drawingml/2006/main">
            <a:r>
              <a:t>Fuentes: supabase/migrations/0001_init.sql y src/hooks/queries/useAlerts.ts. Las pruebas cloud están pendientes. La deduplicación actual no garantiza unicidad por presupuesto y período ante concurrencia o movimientos retroactivos.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 contenido: docs/Finanzas_Personales.pptx, diapositiva 6. Referencia visual: presentación Vidrio del proyecto.</a:t>
            </a:r>
          </a:p>
          <a:p xmlns:a="http://schemas.openxmlformats.org/drawingml/2006/main">
            <a:r>
              <a:t>Fuentes: package.json, src/contexts, src/hooks, supabase/migrations y .github/workflows/ci.yml. La tabla conserva las cuatro capas del original y explicita los cuatro temas vigentes.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 contenido: docs/Finanzas_Personales.pptx, diapositiva 7. Referencia visual: presentación Vidrio del proyecto.</a:t>
            </a:r>
          </a:p>
          <a:p xmlns:a="http://schemas.openxmlformats.org/drawingml/2006/main">
            <a:r>
              <a:t>Fuentes: .github/workflows/ci.yml, package.json, vercel.json y docs/DESPLIEGUE.md. El porcentaje de TypeScript de la fuente no tiene fecha o medición reproducible y se omite. No existe un paso separado npm run typecheck en CI: npm run build ejecuta tsc --noEmit. No se presupone un bloqueo automático de Vercel condicionado al resultado de Actions.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 contenido: docs/Finanzas_Personales.pptx, diapositiva 8. Referencia visual: presentación Vidrio del proyecto.</a:t>
            </a:r>
          </a:p>
          <a:p xmlns:a="http://schemas.openxmlformats.org/drawingml/2006/main">
            <a:r>
              <a:t>URLs: https://personal-finance-taupe-psi.vercel.app/explore/dashboard y https://github.com/bryangallegobetancur/Personal-finance. Fuente de evidencia: docs/EVIDENCIAS.md. El README remoto declara CC BY-NC-SA 4.0 y LICENSE.txt contiene MIT. La licencia queda pendiente de conciliación por los autores. La fuente afirmaba funcionamiento 100% y pruebas de integración aplicadas, pero la evidencia disponible no lo acredita. Confirmar modalidad del equipo, alcance de IA y plazo con el docente. La entrega en Canvas consiste únicamente en el enlace público del repositorio.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209681d3cd422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9b4e7d1c8b42d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93afc93af04b1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1bc90c5141441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cb9ec84742450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09373aa5c64c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0887FD9-29D7-4D97-960C-BF2B3D8B3B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C292269-A0F2-4A94-AE08-4BF5E14B88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1D9FA4E-AA95-4BC5-BA81-356137E2A5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C65F3A-8C95-4310-8785-833ABFE82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004B7B4-D1C8-4DED-AB45-25EA99C5F8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F28E415-8183-4D05-8553-F934D94BE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F41C5E2-7B1F-4794-A6CF-5C2C3EDBC5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D8DEEFE-F8A3-45CB-B747-2D2F657F4D9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31BB62-1581-47AB-88A0-CFF071C95B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620D53B-E83F-413C-8770-D58196A58B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38c950caa2440b" /><Relationship Type="http://schemas.openxmlformats.org/officeDocument/2006/relationships/slideLayout" Target="/ppt/slideLayouts/slideLayout1.xml" Id="R932e17dcfb06454c" /><Relationship Type="http://schemas.openxmlformats.org/officeDocument/2006/relationships/slideLayout" Target="/ppt/slideLayouts/slideLayout2.xml" Id="R84c8b8800e324c45" /><Relationship Type="http://schemas.openxmlformats.org/officeDocument/2006/relationships/slideLayout" Target="/ppt/slideLayouts/slideLayout3.xml" Id="R611e0cdc04af4169" /><Relationship Type="http://schemas.openxmlformats.org/officeDocument/2006/relationships/slideLayout" Target="/ppt/slideLayouts/slideLayout4.xml" Id="R2d97eb9735694f3b" /><Relationship Type="http://schemas.openxmlformats.org/officeDocument/2006/relationships/slideLayout" Target="/ppt/slideLayouts/slideLayout5.xml" Id="Rff01de9fbc2f460c" /><Relationship Type="http://schemas.openxmlformats.org/officeDocument/2006/relationships/slideLayout" Target="/ppt/slideLayouts/slideLayout6.xml" Id="R43f9a8ed264b4d8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2e17dcfb06454c"/>
    <p:sldLayoutId xmlns:r="http://schemas.openxmlformats.org/officeDocument/2006/relationships" id="2147483650" r:id="R84c8b8800e324c45"/>
    <p:sldLayoutId xmlns:r="http://schemas.openxmlformats.org/officeDocument/2006/relationships" id="2147483651" r:id="R611e0cdc04af4169"/>
    <p:sldLayoutId xmlns:r="http://schemas.openxmlformats.org/officeDocument/2006/relationships" id="2147483652" r:id="R2d97eb9735694f3b"/>
    <p:sldLayoutId xmlns:r="http://schemas.openxmlformats.org/officeDocument/2006/relationships" id="2147483653" r:id="Rff01de9fbc2f460c"/>
    <p:sldLayoutId xmlns:r="http://schemas.openxmlformats.org/officeDocument/2006/relationships" id="2147483654" r:id="R43f9a8ed264b4d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eecad1729c4a3e" /><Relationship Type="http://schemas.openxmlformats.org/officeDocument/2006/relationships/image" Target="/ppt/media/image.png" Id="R7cb14fefbb934039" /><Relationship Type="http://schemas.openxmlformats.org/officeDocument/2006/relationships/image" Target="/ppt/media/image2.png" Id="R5406ccaed6a24e22" /><Relationship Type="http://schemas.openxmlformats.org/officeDocument/2006/relationships/notesSlide" Target="/ppt/notesSlides/notesSlide1.xml" Id="Red57c86d0b7f4b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838d1f9b7a4567" /><Relationship Type="http://schemas.openxmlformats.org/officeDocument/2006/relationships/image" Target="/ppt/media/image.png" Id="Re1f75f649a2d4f7b" /><Relationship Type="http://schemas.openxmlformats.org/officeDocument/2006/relationships/image" Target="/ppt/media/image2.png" Id="Raadca196cc914fad" /><Relationship Type="http://schemas.openxmlformats.org/officeDocument/2006/relationships/notesSlide" Target="/ppt/notesSlides/notesSlide2.xml" Id="Rc0813f2cfd6d43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836e5fa2444ba1" /><Relationship Type="http://schemas.openxmlformats.org/officeDocument/2006/relationships/image" Target="/ppt/media/image.png" Id="R36ee45efcd2944a7" /><Relationship Type="http://schemas.openxmlformats.org/officeDocument/2006/relationships/image" Target="/ppt/media/image2.png" Id="R6907453e52304f92" /><Relationship Type="http://schemas.openxmlformats.org/officeDocument/2006/relationships/notesSlide" Target="/ppt/notesSlides/notesSlide3.xml" Id="R495cca336a3845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fc1f741d674f1c" /><Relationship Type="http://schemas.openxmlformats.org/officeDocument/2006/relationships/image" Target="/ppt/media/image.png" Id="R07d504c7dbb749dc" /><Relationship Type="http://schemas.openxmlformats.org/officeDocument/2006/relationships/image" Target="/ppt/media/image2.png" Id="R48b768bd481040a2" /><Relationship Type="http://schemas.openxmlformats.org/officeDocument/2006/relationships/notesSlide" Target="/ppt/notesSlides/notesSlide4.xml" Id="R87b6cee7ce2f41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e1dcd85e8a4f0e" /><Relationship Type="http://schemas.openxmlformats.org/officeDocument/2006/relationships/image" Target="/ppt/media/image.png" Id="R0447634c94144ef2" /><Relationship Type="http://schemas.openxmlformats.org/officeDocument/2006/relationships/image" Target="/ppt/media/image2.png" Id="R2bef7624a1eb4cb7" /><Relationship Type="http://schemas.openxmlformats.org/officeDocument/2006/relationships/notesSlide" Target="/ppt/notesSlides/notesSlide5.xml" Id="R8b7f5eeba14444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7f7347f98f42ab" /><Relationship Type="http://schemas.openxmlformats.org/officeDocument/2006/relationships/image" Target="/ppt/media/image.png" Id="R6f0169e214ae45a6" /><Relationship Type="http://schemas.openxmlformats.org/officeDocument/2006/relationships/image" Target="/ppt/media/image2.png" Id="R63040811832d4cba" /><Relationship Type="http://schemas.openxmlformats.org/officeDocument/2006/relationships/notesSlide" Target="/ppt/notesSlides/notesSlide6.xml" Id="R76810ff501dd4b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0b20ef95dd4b51" /><Relationship Type="http://schemas.openxmlformats.org/officeDocument/2006/relationships/image" Target="/ppt/media/image.png" Id="Rb07eb7a6b0304ab6" /><Relationship Type="http://schemas.openxmlformats.org/officeDocument/2006/relationships/image" Target="/ppt/media/image2.png" Id="Rf5de6dbd99fb4b36" /><Relationship Type="http://schemas.openxmlformats.org/officeDocument/2006/relationships/notesSlide" Target="/ppt/notesSlides/notesSlide7.xml" Id="Rb25e564f8aa840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65ae549ec047e4" /><Relationship Type="http://schemas.openxmlformats.org/officeDocument/2006/relationships/image" Target="/ppt/media/image.png" Id="Rde0eba36e4104855" /><Relationship Type="http://schemas.openxmlformats.org/officeDocument/2006/relationships/image" Target="/ppt/media/image2.png" Id="Rcf9fe52d3dd04ae6" /><Relationship Type="http://schemas.openxmlformats.org/officeDocument/2006/relationships/image" Target="/ppt/media/image.jpeg" Id="Rebb364e27e804091" /><Relationship Type="http://schemas.openxmlformats.org/officeDocument/2006/relationships/notesSlide" Target="/ppt/notesSlides/notesSlide8.xml" Id="R8c3d61bd139d479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BE39D-62F1-4DC2-9324-83908D36D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b14fefbb934039"/>
          <a:stretch xmlns:a="http://schemas.openxmlformats.org/drawingml/2006/main"/>
        </p:blipFill>
        <p:spPr>
          <a:xfrm xmlns:a="http://schemas.openxmlformats.org/drawingml/2006/main">
            <a:off x="4049" y="0"/>
            <a:ext cx="15231902" cy="8572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56DE8-9E1A-4B32-ABAF-D8C6C49786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06ccaed6a24e22"/>
          <a:stretch xmlns:a="http://schemas.openxmlformats.org/drawingml/2006/main"/>
        </p:blipFill>
        <p:spPr>
          <a:xfrm xmlns:a="http://schemas.openxmlformats.org/drawingml/2006/main">
            <a:off x="13335000" y="462877"/>
            <a:ext cx="1143000" cy="1131646"/>
          </a:xfrm>
          <a:prstGeom xmlns:a="http://schemas.openxmlformats.org/drawingml/2006/main" prst="rect">
            <a:avLst/>
          </a:prstGeom>
        </p:spPr>
      </p:pic>
      <p:sp>
        <p:nvSpPr>
          <p:cNvPr id="25" name="Entrega">
            <a:extLst xmlns:a="http://schemas.openxmlformats.org/drawingml/2006/main">
              <a:ext uri="{FF2B5EF4-FFF2-40B4-BE49-F238E27FC236}">
                <a16:creationId xmlns:a16="http://schemas.microsoft.com/office/drawing/2014/main" id="{18D7C1C8-672E-45A3-8C89-57A113C5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181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PROYECTO UCN IIA  /  TALLER ABP  /  ENTREGA 1 (20%)</a:t>
            </a:r>
          </a:p>
        </p:txBody>
      </p:sp>
      <p:sp>
        <p:nvSpPr>
          <p:cNvPr id="26" name="Título">
            <a:extLst xmlns:a="http://schemas.openxmlformats.org/drawingml/2006/main">
              <a:ext uri="{FF2B5EF4-FFF2-40B4-BE49-F238E27FC236}">
                <a16:creationId xmlns:a16="http://schemas.microsoft.com/office/drawing/2014/main" id="{B1D3B507-B98C-46DD-8EF2-C79FEBF2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42975"/>
            <a:ext cx="1238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Finanzas Personales</a:t>
            </a:r>
          </a:p>
        </p:txBody>
      </p:sp>
      <p:sp>
        <p:nvSpPr>
          <p:cNvPr id="27" name="Subtítulo">
            <a:extLst xmlns:a="http://schemas.openxmlformats.org/drawingml/2006/main">
              <a:ext uri="{FF2B5EF4-FFF2-40B4-BE49-F238E27FC236}">
                <a16:creationId xmlns:a16="http://schemas.microsoft.com/office/drawing/2014/main" id="{65A4C4CC-A7C3-4DEF-9719-2791A4DF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1238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React + Supabase</a:t>
            </a:r>
          </a:p>
        </p:txBody>
      </p:sp>
      <p:sp>
        <p:nvSpPr>
          <p:cNvPr id="28" name="Página">
            <a:extLst xmlns:a="http://schemas.openxmlformats.org/drawingml/2006/main">
              <a:ext uri="{FF2B5EF4-FFF2-40B4-BE49-F238E27FC236}">
                <a16:creationId xmlns:a16="http://schemas.microsoft.com/office/drawing/2014/main" id="{0A7CD997-ECC6-4F62-BD8B-92EC6247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77628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29" name="Mensaje principal">
            <a:extLst xmlns:a="http://schemas.openxmlformats.org/drawingml/2006/main">
              <a:ext uri="{FF2B5EF4-FFF2-40B4-BE49-F238E27FC236}">
                <a16:creationId xmlns:a16="http://schemas.microsoft.com/office/drawing/2014/main" id="{5B0E5A84-C847-49CE-8E47-E72FA375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3335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425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425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4425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Gestión centralizada de ingresos,</a:t>
            </a:r>
          </a:p>
          <a:p xmlns:a="http://schemas.openxmlformats.org/drawingml/2006/main">
            <a:pPr algn="l">
              <a:defRPr sz="4425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4425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gastos y presupuestos</a:t>
            </a:r>
          </a:p>
        </p:txBody>
      </p:sp>
      <p:sp>
        <p:nvSpPr>
          <p:cNvPr id="30" name="Descripción">
            <a:extLst xmlns:a="http://schemas.openxmlformats.org/drawingml/2006/main">
              <a:ext uri="{FF2B5EF4-FFF2-40B4-BE49-F238E27FC236}">
                <a16:creationId xmlns:a16="http://schemas.microsoft.com/office/drawing/2014/main" id="{211C24FE-E0ED-4BF1-9F65-89F001AD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1285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Aplicación web en la nube con acceso por usuario</a:t>
            </a:r>
          </a:p>
          <a:p xmlns:a="http://schemas.openxmlformats.org/drawingml/2006/main">
            <a:pPr algn="l">
              <a:defRPr sz="24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y seguimiento del balance y de los límites de gasto.</a:t>
            </a:r>
          </a:p>
        </p:txBody>
      </p:sp>
      <p:sp>
        <p:nvSpPr>
          <p:cNvPr id="31" name="Autoría">
            <a:extLst xmlns:a="http://schemas.openxmlformats.org/drawingml/2006/main">
              <a:ext uri="{FF2B5EF4-FFF2-40B4-BE49-F238E27FC236}">
                <a16:creationId xmlns:a16="http://schemas.microsoft.com/office/drawing/2014/main" id="{BA698C65-8214-4CCA-9B64-C6912C3F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72250"/>
            <a:ext cx="11239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Bryan Stiven Gallego Betancur</a:t>
            </a:r>
          </a:p>
          <a:p xmlns:a="http://schemas.openxmlformats.org/drawingml/2006/main">
            <a:pPr algn="l">
              <a:defRPr sz="187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John Alejandro Alvarez Muñoz</a:t>
            </a:r>
          </a:p>
          <a:p xmlns:a="http://schemas.openxmlformats.org/drawingml/2006/main">
            <a:pPr algn="l">
              <a:defRPr sz="187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Daniel Santiago Naranjo Rodriguez</a:t>
            </a:r>
          </a:p>
        </p:txBody>
      </p:sp>
    </p:spTree>
    <p:extLst>
      <p:ext uri="{BB962C8B-B14F-4D97-AF65-F5344CB8AC3E}">
        <p14:creationId xmlns:p14="http://schemas.microsoft.com/office/powerpoint/2010/main" val="5682436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BE39D-62F1-4DC2-9324-83908D36D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f75f649a2d4f7b"/>
          <a:stretch xmlns:a="http://schemas.openxmlformats.org/drawingml/2006/main"/>
        </p:blipFill>
        <p:spPr>
          <a:xfrm xmlns:a="http://schemas.openxmlformats.org/drawingml/2006/main">
            <a:off x="4049" y="0"/>
            <a:ext cx="15231902" cy="8572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56DE8-9E1A-4B32-ABAF-D8C6C49786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ca196cc914fad"/>
          <a:stretch xmlns:a="http://schemas.openxmlformats.org/drawingml/2006/main"/>
        </p:blipFill>
        <p:spPr>
          <a:xfrm xmlns:a="http://schemas.openxmlformats.org/drawingml/2006/main">
            <a:off x="13335000" y="462877"/>
            <a:ext cx="1143000" cy="1131646"/>
          </a:xfrm>
          <a:prstGeom xmlns:a="http://schemas.openxmlformats.org/drawingml/2006/main" prst="rect">
            <a:avLst/>
          </a:prstGeom>
        </p:spPr>
      </p:pic>
      <p:sp>
        <p:nvSpPr>
          <p:cNvPr id="25" name="Entrega">
            <a:extLst xmlns:a="http://schemas.openxmlformats.org/drawingml/2006/main">
              <a:ext uri="{FF2B5EF4-FFF2-40B4-BE49-F238E27FC236}">
                <a16:creationId xmlns:a16="http://schemas.microsoft.com/office/drawing/2014/main" id="{9ED16D9A-82B1-49CF-A95B-CA5D3668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181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PROYECTO UCN IIA  /  TALLER ABP  /  ENTREGA 1 (20%)</a:t>
            </a:r>
          </a:p>
        </p:txBody>
      </p:sp>
      <p:sp>
        <p:nvSpPr>
          <p:cNvPr id="26" name="Título">
            <a:extLst xmlns:a="http://schemas.openxmlformats.org/drawingml/2006/main">
              <a:ext uri="{FF2B5EF4-FFF2-40B4-BE49-F238E27FC236}">
                <a16:creationId xmlns:a16="http://schemas.microsoft.com/office/drawing/2014/main" id="{863C1FE0-C15E-4D67-9BCA-498A3D9F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42975"/>
            <a:ext cx="1238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Problema y solución</a:t>
            </a:r>
          </a:p>
        </p:txBody>
      </p:sp>
      <p:sp>
        <p:nvSpPr>
          <p:cNvPr id="27" name="Subtítulo">
            <a:extLst xmlns:a="http://schemas.openxmlformats.org/drawingml/2006/main">
              <a:ext uri="{FF2B5EF4-FFF2-40B4-BE49-F238E27FC236}">
                <a16:creationId xmlns:a16="http://schemas.microsoft.com/office/drawing/2014/main" id="{8D9A569A-4292-439E-9A84-C0D3D5ED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1238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El registro disperso dificulta conocer el saldo y controlar el presupuesto</a:t>
            </a:r>
          </a:p>
        </p:txBody>
      </p:sp>
      <p:sp>
        <p:nvSpPr>
          <p:cNvPr id="28" name="Página">
            <a:extLst xmlns:a="http://schemas.openxmlformats.org/drawingml/2006/main">
              <a:ext uri="{FF2B5EF4-FFF2-40B4-BE49-F238E27FC236}">
                <a16:creationId xmlns:a16="http://schemas.microsoft.com/office/drawing/2014/main" id="{BCDAD5A4-A83E-45E3-BBCF-47307570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77628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2 / 8</a:t>
            </a:r>
          </a:p>
        </p:txBody>
      </p:sp>
      <p:sp>
        <p:nvSpPr>
          <p:cNvPr id="29" name="Registros dispersos">
            <a:extLst xmlns:a="http://schemas.openxmlformats.org/drawingml/2006/main">
              <a:ext uri="{FF2B5EF4-FFF2-40B4-BE49-F238E27FC236}">
                <a16:creationId xmlns:a16="http://schemas.microsoft.com/office/drawing/2014/main" id="{F97FAE77-CDAB-478C-ABE0-6C9D2E01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Registros dispersos</a:t>
            </a:r>
          </a:p>
        </p:txBody>
      </p:sp>
      <p:sp>
        <p:nvSpPr>
          <p:cNvPr id="30" name="Registros dispersos detalle">
            <a:extLst xmlns:a="http://schemas.openxmlformats.org/drawingml/2006/main">
              <a:ext uri="{FF2B5EF4-FFF2-40B4-BE49-F238E27FC236}">
                <a16:creationId xmlns:a16="http://schemas.microsoft.com/office/drawing/2014/main" id="{F11D18E3-1DB0-4E72-82E9-A898B35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61912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El saldo disponible resulta difícil de consultar.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Los excesos de presupuesto se detectan tarde.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La información fragmentada limita la visión global.</a:t>
            </a:r>
          </a:p>
        </p:txBody>
      </p:sp>
      <p:sp>
        <p:nvSpPr>
          <p:cNvPr id="31" name="Gestión centralizada">
            <a:extLst xmlns:a="http://schemas.openxmlformats.org/drawingml/2006/main">
              <a:ext uri="{FF2B5EF4-FFF2-40B4-BE49-F238E27FC236}">
                <a16:creationId xmlns:a16="http://schemas.microsoft.com/office/drawing/2014/main" id="{DCE17BEE-E6F2-4776-AE64-6BDF5F7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62250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Gestión centralizada</a:t>
            </a:r>
          </a:p>
        </p:txBody>
      </p:sp>
      <p:sp>
        <p:nvSpPr>
          <p:cNvPr id="32" name="Gestión centralizada detalle">
            <a:extLst xmlns:a="http://schemas.openxmlformats.org/drawingml/2006/main">
              <a:ext uri="{FF2B5EF4-FFF2-40B4-BE49-F238E27FC236}">
                <a16:creationId xmlns:a16="http://schemas.microsoft.com/office/drawing/2014/main" id="{2DF559D0-3B03-4168-8574-1C7BF801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14700"/>
            <a:ext cx="619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Una interfaz web reúne los movimientos.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El usuario asigna categorías a ingresos y gastos.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Los gráficos y las alertas por reglas SQL apoyan el seguimiento del presupuesto.</a:t>
            </a:r>
          </a:p>
        </p:txBody>
      </p:sp>
      <p:sp>
        <p:nvSpPr>
          <p:cNvPr id="33" name="Nota">
            <a:extLst xmlns:a="http://schemas.openxmlformats.org/drawingml/2006/main">
              <a:ext uri="{FF2B5EF4-FFF2-40B4-BE49-F238E27FC236}">
                <a16:creationId xmlns:a16="http://schemas.microsoft.com/office/drawing/2014/main" id="{4F1D07F6-E669-4137-A82A-84068872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72350"/>
            <a:ext cx="1228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La categorización automática es una posibilidad futura. La versión actual utiliza categorías seleccionadas por el usuario.</a:t>
            </a:r>
          </a:p>
        </p:txBody>
      </p:sp>
    </p:spTree>
    <p:extLst>
      <p:ext uri="{BB962C8B-B14F-4D97-AF65-F5344CB8AC3E}">
        <p14:creationId xmlns:p14="http://schemas.microsoft.com/office/powerpoint/2010/main" val="5682436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BE39D-62F1-4DC2-9324-83908D36D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ee45efcd2944a7"/>
          <a:stretch xmlns:a="http://schemas.openxmlformats.org/drawingml/2006/main"/>
        </p:blipFill>
        <p:spPr>
          <a:xfrm xmlns:a="http://schemas.openxmlformats.org/drawingml/2006/main">
            <a:off x="4049" y="0"/>
            <a:ext cx="15231902" cy="8572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56DE8-9E1A-4B32-ABAF-D8C6C49786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07453e52304f92"/>
          <a:stretch xmlns:a="http://schemas.openxmlformats.org/drawingml/2006/main"/>
        </p:blipFill>
        <p:spPr>
          <a:xfrm xmlns:a="http://schemas.openxmlformats.org/drawingml/2006/main">
            <a:off x="13335000" y="462877"/>
            <a:ext cx="1143000" cy="1131646"/>
          </a:xfrm>
          <a:prstGeom xmlns:a="http://schemas.openxmlformats.org/drawingml/2006/main" prst="rect">
            <a:avLst/>
          </a:prstGeom>
        </p:spPr>
      </p:pic>
      <p:sp>
        <p:nvSpPr>
          <p:cNvPr id="25" name="Entrega">
            <a:extLst xmlns:a="http://schemas.openxmlformats.org/drawingml/2006/main">
              <a:ext uri="{FF2B5EF4-FFF2-40B4-BE49-F238E27FC236}">
                <a16:creationId xmlns:a16="http://schemas.microsoft.com/office/drawing/2014/main" id="{955969DC-BA9A-4645-8899-0513397D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181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PROYECTO UCN IIA  /  TALLER ABP  /  ENTREGA 1 (20%)</a:t>
            </a:r>
          </a:p>
        </p:txBody>
      </p:sp>
      <p:sp>
        <p:nvSpPr>
          <p:cNvPr id="26" name="Título">
            <a:extLst xmlns:a="http://schemas.openxmlformats.org/drawingml/2006/main">
              <a:ext uri="{FF2B5EF4-FFF2-40B4-BE49-F238E27FC236}">
                <a16:creationId xmlns:a16="http://schemas.microsoft.com/office/drawing/2014/main" id="{C2D43EDD-FDC0-4191-9A58-A2FF7BADB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42975"/>
            <a:ext cx="1238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Funcionalidades principales</a:t>
            </a:r>
          </a:p>
        </p:txBody>
      </p:sp>
      <p:sp>
        <p:nvSpPr>
          <p:cNvPr id="27" name="Subtítulo">
            <a:extLst xmlns:a="http://schemas.openxmlformats.org/drawingml/2006/main">
              <a:ext uri="{FF2B5EF4-FFF2-40B4-BE49-F238E27FC236}">
                <a16:creationId xmlns:a16="http://schemas.microsoft.com/office/drawing/2014/main" id="{2EAC65FC-095C-45CD-AFD0-58289461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1238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Acceso, gestión financiera y personalización de la interfaz</a:t>
            </a:r>
          </a:p>
        </p:txBody>
      </p:sp>
      <p:sp>
        <p:nvSpPr>
          <p:cNvPr id="28" name="Página">
            <a:extLst xmlns:a="http://schemas.openxmlformats.org/drawingml/2006/main">
              <a:ext uri="{FF2B5EF4-FFF2-40B4-BE49-F238E27FC236}">
                <a16:creationId xmlns:a16="http://schemas.microsoft.com/office/drawing/2014/main" id="{6F569E15-46F0-48EE-98AD-A16AC8F9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77628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3 / 8</a:t>
            </a:r>
          </a:p>
        </p:txBody>
      </p:sp>
      <p:sp>
        <p:nvSpPr>
          <p:cNvPr id="29" name="Seguridad y acceso">
            <a:extLst xmlns:a="http://schemas.openxmlformats.org/drawingml/2006/main">
              <a:ext uri="{FF2B5EF4-FFF2-40B4-BE49-F238E27FC236}">
                <a16:creationId xmlns:a16="http://schemas.microsoft.com/office/drawing/2014/main" id="{ED8D049F-D8EA-4EC6-BBD6-9843D0C5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Seguridad y acceso</a:t>
            </a:r>
          </a:p>
        </p:txBody>
      </p:sp>
      <p:sp>
        <p:nvSpPr>
          <p:cNvPr id="30" name="Seguridad y acceso detalle">
            <a:extLst xmlns:a="http://schemas.openxmlformats.org/drawingml/2006/main">
              <a:ext uri="{FF2B5EF4-FFF2-40B4-BE49-F238E27FC236}">
                <a16:creationId xmlns:a16="http://schemas.microsoft.com/office/drawing/2014/main" id="{89D6B6CE-3E54-40D6-B2C6-3E779C08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9950"/>
            <a:ext cx="404812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Supabase Auth gestiona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la sesión y los JWT.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RLS define el acceso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a las filas por usuario.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El modo exploración usa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datos de ejemplo en memoria.</a:t>
            </a:r>
          </a:p>
        </p:txBody>
      </p:sp>
      <p:sp>
        <p:nvSpPr>
          <p:cNvPr id="31" name="Gestión y análisis">
            <a:extLst xmlns:a="http://schemas.openxmlformats.org/drawingml/2006/main">
              <a:ext uri="{FF2B5EF4-FFF2-40B4-BE49-F238E27FC236}">
                <a16:creationId xmlns:a16="http://schemas.microsoft.com/office/drawing/2014/main" id="{9B060346-C742-4E3E-8CCF-B4525F72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57500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Gestión y análisis</a:t>
            </a:r>
          </a:p>
        </p:txBody>
      </p:sp>
      <p:sp>
        <p:nvSpPr>
          <p:cNvPr id="32" name="Gestión y análisis detalle">
            <a:extLst xmlns:a="http://schemas.openxmlformats.org/drawingml/2006/main">
              <a:ext uri="{FF2B5EF4-FFF2-40B4-BE49-F238E27FC236}">
                <a16:creationId xmlns:a16="http://schemas.microsoft.com/office/drawing/2014/main" id="{FCAFF057-C87A-4F5F-9E4B-00D6A586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409950"/>
            <a:ext cx="404812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Crear, editar, clonar y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eliminar transacciones.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Presupuestos mensuales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o anuales, con vigencia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opcional.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Dashboard por mes,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categoría o rango de fechas.</a:t>
            </a:r>
          </a:p>
        </p:txBody>
      </p:sp>
      <p:sp>
        <p:nvSpPr>
          <p:cNvPr id="33" name="Personalización">
            <a:extLst xmlns:a="http://schemas.openxmlformats.org/drawingml/2006/main">
              <a:ext uri="{FF2B5EF4-FFF2-40B4-BE49-F238E27FC236}">
                <a16:creationId xmlns:a16="http://schemas.microsoft.com/office/drawing/2014/main" id="{0F8C44ED-DD86-4170-B34B-58BCB9FB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857500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Personalización</a:t>
            </a:r>
          </a:p>
        </p:txBody>
      </p:sp>
      <p:sp>
        <p:nvSpPr>
          <p:cNvPr id="34" name="Personalización detalle">
            <a:extLst xmlns:a="http://schemas.openxmlformats.org/drawingml/2006/main">
              <a:ext uri="{FF2B5EF4-FFF2-40B4-BE49-F238E27FC236}">
                <a16:creationId xmlns:a16="http://schemas.microsoft.com/office/drawing/2014/main" id="{F7B0ACF4-3DA3-47D5-B1B9-F2D6EBC7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409950"/>
            <a:ext cx="428625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Diseño adaptable.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Cuatro temas: Vidrio, Menta,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Aurora y Profundo.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Formato monetario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seleccionable, sin convertir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los importes guardados.</a:t>
            </a:r>
          </a:p>
        </p:txBody>
      </p:sp>
      <p:sp>
        <p:nvSpPr>
          <p:cNvPr id="35" name="Nota">
            <a:extLst xmlns:a="http://schemas.openxmlformats.org/drawingml/2006/main">
              <a:ext uri="{FF2B5EF4-FFF2-40B4-BE49-F238E27FC236}">
                <a16:creationId xmlns:a16="http://schemas.microsoft.com/office/drawing/2014/main" id="{CCDDF64B-7E80-4E06-9A14-209897CA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72350"/>
            <a:ext cx="1228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Las políticas RLS están implementadas. La verificación de aislamiento entre cuentas requiere pruebas de integración.</a:t>
            </a:r>
          </a:p>
        </p:txBody>
      </p:sp>
    </p:spTree>
    <p:extLst>
      <p:ext uri="{BB962C8B-B14F-4D97-AF65-F5344CB8AC3E}">
        <p14:creationId xmlns:p14="http://schemas.microsoft.com/office/powerpoint/2010/main" val="56824369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BE39D-62F1-4DC2-9324-83908D36D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d504c7dbb749dc"/>
          <a:stretch xmlns:a="http://schemas.openxmlformats.org/drawingml/2006/main"/>
        </p:blipFill>
        <p:spPr>
          <a:xfrm xmlns:a="http://schemas.openxmlformats.org/drawingml/2006/main">
            <a:off x="4049" y="0"/>
            <a:ext cx="15231902" cy="8572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56DE8-9E1A-4B32-ABAF-D8C6C49786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768bd481040a2"/>
          <a:stretch xmlns:a="http://schemas.openxmlformats.org/drawingml/2006/main"/>
        </p:blipFill>
        <p:spPr>
          <a:xfrm xmlns:a="http://schemas.openxmlformats.org/drawingml/2006/main">
            <a:off x="13335000" y="462877"/>
            <a:ext cx="1143000" cy="1131646"/>
          </a:xfrm>
          <a:prstGeom xmlns:a="http://schemas.openxmlformats.org/drawingml/2006/main" prst="rect">
            <a:avLst/>
          </a:prstGeom>
        </p:spPr>
      </p:pic>
      <p:sp>
        <p:nvSpPr>
          <p:cNvPr id="25" name="Entrega">
            <a:extLst xmlns:a="http://schemas.openxmlformats.org/drawingml/2006/main">
              <a:ext uri="{FF2B5EF4-FFF2-40B4-BE49-F238E27FC236}">
                <a16:creationId xmlns:a16="http://schemas.microsoft.com/office/drawing/2014/main" id="{CE2A5048-17A5-4137-8A29-7C8B2135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181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PROYECTO UCN IIA  /  TALLER ABP  /  ENTREGA 1 (20%)</a:t>
            </a:r>
          </a:p>
        </p:txBody>
      </p:sp>
      <p:sp>
        <p:nvSpPr>
          <p:cNvPr id="26" name="Título">
            <a:extLst xmlns:a="http://schemas.openxmlformats.org/drawingml/2006/main">
              <a:ext uri="{FF2B5EF4-FFF2-40B4-BE49-F238E27FC236}">
                <a16:creationId xmlns:a16="http://schemas.microsoft.com/office/drawing/2014/main" id="{920D3939-4C64-4D00-9AFF-BFC9B8DE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42975"/>
            <a:ext cx="1238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Arquitectura en la nube</a:t>
            </a:r>
          </a:p>
        </p:txBody>
      </p:sp>
      <p:sp>
        <p:nvSpPr>
          <p:cNvPr id="27" name="Subtítulo">
            <a:extLst xmlns:a="http://schemas.openxmlformats.org/drawingml/2006/main">
              <a:ext uri="{FF2B5EF4-FFF2-40B4-BE49-F238E27FC236}">
                <a16:creationId xmlns:a16="http://schemas.microsoft.com/office/drawing/2014/main" id="{0FE9486B-ED15-48AD-BCA5-BD462419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1238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Vercel entrega la aplicación web y el navegador se comunica con Supabase</a:t>
            </a:r>
          </a:p>
        </p:txBody>
      </p:sp>
      <p:sp>
        <p:nvSpPr>
          <p:cNvPr id="28" name="Página">
            <a:extLst xmlns:a="http://schemas.openxmlformats.org/drawingml/2006/main">
              <a:ext uri="{FF2B5EF4-FFF2-40B4-BE49-F238E27FC236}">
                <a16:creationId xmlns:a16="http://schemas.microsoft.com/office/drawing/2014/main" id="{EF5A3643-653B-4AA4-A344-63B3CD59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77628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4 / 8</a:t>
            </a:r>
          </a:p>
        </p:txBody>
      </p:sp>
      <p:sp>
        <p:nvSpPr>
          <p:cNvPr id="29" name="GitHub">
            <a:extLst xmlns:a="http://schemas.openxmlformats.org/drawingml/2006/main">
              <a:ext uri="{FF2B5EF4-FFF2-40B4-BE49-F238E27FC236}">
                <a16:creationId xmlns:a16="http://schemas.microsoft.com/office/drawing/2014/main" id="{AC9D5F30-49A4-4245-9577-DD25DCE2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2381250" cy="104775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GitHub</a:t>
            </a:r>
          </a:p>
        </p:txBody>
      </p:sp>
      <p:sp>
        <p:nvSpPr>
          <p:cNvPr id="30" name="Vercel">
            <a:extLst xmlns:a="http://schemas.openxmlformats.org/drawingml/2006/main">
              <a:ext uri="{FF2B5EF4-FFF2-40B4-BE49-F238E27FC236}">
                <a16:creationId xmlns:a16="http://schemas.microsoft.com/office/drawing/2014/main" id="{B2F615A1-4E1B-4719-BC9E-A6FA93D0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00375"/>
            <a:ext cx="2381250" cy="104775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Vercel</a:t>
            </a:r>
          </a:p>
        </p:txBody>
      </p:sp>
      <p:sp>
        <p:nvSpPr>
          <p:cNvPr id="31" name="Navegador&#10;React">
            <a:extLst xmlns:a="http://schemas.openxmlformats.org/drawingml/2006/main">
              <a:ext uri="{FF2B5EF4-FFF2-40B4-BE49-F238E27FC236}">
                <a16:creationId xmlns:a16="http://schemas.microsoft.com/office/drawing/2014/main" id="{CDA7C51C-61E3-4DBE-8EB4-88DF35C1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00375"/>
            <a:ext cx="2762250" cy="104775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Navegador</a:t>
            </a:r>
          </a:p>
          <a:p xmlns:a="http://schemas.openxmlformats.org/drawingml/2006/main">
            <a:pPr algn="ctr">
              <a:defRPr sz="22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React</a:t>
            </a:r>
          </a:p>
        </p:txBody>
      </p:sp>
      <p:sp>
        <p:nvSpPr>
          <p:cNvPr id="32" name="Supabase">
            <a:extLst xmlns:a="http://schemas.openxmlformats.org/drawingml/2006/main">
              <a:ext uri="{FF2B5EF4-FFF2-40B4-BE49-F238E27FC236}">
                <a16:creationId xmlns:a16="http://schemas.microsoft.com/office/drawing/2014/main" id="{EB7E6EF0-C944-47B6-A70F-F55CF215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000375"/>
            <a:ext cx="3619500" cy="104775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Supabase</a:t>
            </a:r>
          </a:p>
        </p:txBody>
      </p:sp>
      <p:sp>
        <p:nvSpPr>
          <p:cNvPr id="33" name="Conexión">
            <a:extLst xmlns:a="http://schemas.openxmlformats.org/drawingml/2006/main">
              <a:ext uri="{FF2B5EF4-FFF2-40B4-BE49-F238E27FC236}">
                <a16:creationId xmlns:a16="http://schemas.microsoft.com/office/drawing/2014/main" id="{57E32B55-A30B-44EE-8E83-60ECDEB1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90875"/>
            <a:ext cx="66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3375" b="0">
                <a:solidFill>
                  <a:srgbClr val="1F6F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4" name="Conexión">
            <a:extLst xmlns:a="http://schemas.openxmlformats.org/drawingml/2006/main">
              <a:ext uri="{FF2B5EF4-FFF2-40B4-BE49-F238E27FC236}">
                <a16:creationId xmlns:a16="http://schemas.microsoft.com/office/drawing/2014/main" id="{A05D83EC-9233-4D0E-A1D0-E9F214B3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90875"/>
            <a:ext cx="66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3375" b="0">
                <a:solidFill>
                  <a:srgbClr val="1F6F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5" name="Conexión">
            <a:extLst xmlns:a="http://schemas.openxmlformats.org/drawingml/2006/main">
              <a:ext uri="{FF2B5EF4-FFF2-40B4-BE49-F238E27FC236}">
                <a16:creationId xmlns:a16="http://schemas.microsoft.com/office/drawing/2014/main" id="{4DA076C8-BDD4-4B26-BA69-D901C896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190875"/>
            <a:ext cx="66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3375" b="0">
                <a:solidFill>
                  <a:srgbClr val="1F6F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6" name="Integración">
            <a:extLst xmlns:a="http://schemas.openxmlformats.org/drawingml/2006/main">
              <a:ext uri="{FF2B5EF4-FFF2-40B4-BE49-F238E27FC236}">
                <a16:creationId xmlns:a16="http://schemas.microsoft.com/office/drawing/2014/main" id="{FDA2CECB-AFF3-4F79-AA2A-ACD8E7F5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14825"/>
            <a:ext cx="2381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Integración Git</a:t>
            </a:r>
          </a:p>
          <a:p xmlns:a="http://schemas.openxmlformats.org/drawingml/2006/main">
            <a: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y build</a:t>
            </a:r>
          </a:p>
        </p:txBody>
      </p:sp>
      <p:sp>
        <p:nvSpPr>
          <p:cNvPr id="37" name="Entrega HTTPS">
            <a:extLst xmlns:a="http://schemas.openxmlformats.org/drawingml/2006/main">
              <a:ext uri="{FF2B5EF4-FFF2-40B4-BE49-F238E27FC236}">
                <a16:creationId xmlns:a16="http://schemas.microsoft.com/office/drawing/2014/main" id="{7DEEE290-B865-4112-9A17-97BF990B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14825"/>
            <a:ext cx="2381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Frontend estático</a:t>
            </a:r>
          </a:p>
          <a:p xmlns:a="http://schemas.openxmlformats.org/drawingml/2006/main">
            <a: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entregado por HTTPS</a:t>
            </a:r>
          </a:p>
        </p:txBody>
      </p:sp>
      <p:sp>
        <p:nvSpPr>
          <p:cNvPr id="38" name="Cliente">
            <a:extLst xmlns:a="http://schemas.openxmlformats.org/drawingml/2006/main">
              <a:ext uri="{FF2B5EF4-FFF2-40B4-BE49-F238E27FC236}">
                <a16:creationId xmlns:a16="http://schemas.microsoft.com/office/drawing/2014/main" id="{4FCEAE6F-D114-4257-8188-86DD86C8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14825"/>
            <a:ext cx="2762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Sesión y consultas</a:t>
            </a:r>
          </a:p>
          <a:p xmlns:a="http://schemas.openxmlformats.org/drawingml/2006/main">
            <a: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con SDK y JWT</a:t>
            </a:r>
          </a:p>
        </p:txBody>
      </p:sp>
      <p:sp>
        <p:nvSpPr>
          <p:cNvPr id="39" name="Backend">
            <a:extLst xmlns:a="http://schemas.openxmlformats.org/drawingml/2006/main">
              <a:ext uri="{FF2B5EF4-FFF2-40B4-BE49-F238E27FC236}">
                <a16:creationId xmlns:a16="http://schemas.microsoft.com/office/drawing/2014/main" id="{D9BF48F3-7DE9-47F4-97AE-4B3BCC97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314825"/>
            <a:ext cx="3619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Backend administrado</a:t>
            </a:r>
          </a:p>
          <a:p xmlns:a="http://schemas.openxmlformats.org/drawingml/2006/main">
            <a:pPr algn="ctr">
              <a:defRPr sz="187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(BaaS)</a:t>
            </a:r>
          </a:p>
        </p:txBody>
      </p:sp>
      <p:sp>
        <p:nvSpPr>
          <p:cNvPr id="40" name="Supabase Auth">
            <a:extLst xmlns:a="http://schemas.openxmlformats.org/drawingml/2006/main">
              <a:ext uri="{FF2B5EF4-FFF2-40B4-BE49-F238E27FC236}">
                <a16:creationId xmlns:a16="http://schemas.microsoft.com/office/drawing/2014/main" id="{CF560274-DFAB-4B6C-BD0B-18E45C40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Supabase Auth</a:t>
            </a:r>
          </a:p>
        </p:txBody>
      </p:sp>
      <p:sp>
        <p:nvSpPr>
          <p:cNvPr id="41" name="Supabase Auth detalle">
            <a:extLst xmlns:a="http://schemas.openxmlformats.org/drawingml/2006/main">
              <a:ext uri="{FF2B5EF4-FFF2-40B4-BE49-F238E27FC236}">
                <a16:creationId xmlns:a16="http://schemas.microsoft.com/office/drawing/2014/main" id="{F6F9FDD5-2345-4E24-AE43-55EF6B6E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72200"/>
            <a:ext cx="4048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Registro, inicio de sesión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y recuperación de acceso.</a:t>
            </a:r>
          </a:p>
        </p:txBody>
      </p:sp>
      <p:sp>
        <p:nvSpPr>
          <p:cNvPr id="42" name="Data API">
            <a:extLst xmlns:a="http://schemas.openxmlformats.org/drawingml/2006/main">
              <a:ext uri="{FF2B5EF4-FFF2-40B4-BE49-F238E27FC236}">
                <a16:creationId xmlns:a16="http://schemas.microsoft.com/office/drawing/2014/main" id="{56DF9FD2-46FD-4E4C-B18F-FE5CAEA9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619750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Data API</a:t>
            </a:r>
          </a:p>
        </p:txBody>
      </p:sp>
      <p:sp>
        <p:nvSpPr>
          <p:cNvPr id="43" name="Data API detalle">
            <a:extLst xmlns:a="http://schemas.openxmlformats.org/drawingml/2006/main">
              <a:ext uri="{FF2B5EF4-FFF2-40B4-BE49-F238E27FC236}">
                <a16:creationId xmlns:a16="http://schemas.microsoft.com/office/drawing/2014/main" id="{73FD793E-FBFC-4769-AA38-DB0905D8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172200"/>
            <a:ext cx="4048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Recibe consultas del cliente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y accede a PostgreSQL.</a:t>
            </a:r>
          </a:p>
        </p:txBody>
      </p:sp>
      <p:sp>
        <p:nvSpPr>
          <p:cNvPr id="44" name="PostgreSQL y RLS">
            <a:extLst xmlns:a="http://schemas.openxmlformats.org/drawingml/2006/main">
              <a:ext uri="{FF2B5EF4-FFF2-40B4-BE49-F238E27FC236}">
                <a16:creationId xmlns:a16="http://schemas.microsoft.com/office/drawing/2014/main" id="{22E55F3A-B11D-4FC8-80EE-4505A760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619750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PostgreSQL y RLS</a:t>
            </a:r>
          </a:p>
        </p:txBody>
      </p:sp>
      <p:sp>
        <p:nvSpPr>
          <p:cNvPr id="45" name="PostgreSQL y RLS detalle">
            <a:extLst xmlns:a="http://schemas.openxmlformats.org/drawingml/2006/main">
              <a:ext uri="{FF2B5EF4-FFF2-40B4-BE49-F238E27FC236}">
                <a16:creationId xmlns:a16="http://schemas.microsoft.com/office/drawing/2014/main" id="{6118FB91-7FE3-4C22-ADD3-741BEFC0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172200"/>
            <a:ext cx="428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Persistencia relacional,</a:t>
            </a:r>
          </a:p>
          <a:p xmlns:a="http://schemas.openxmlformats.org/drawingml/2006/main">
            <a:pPr algn="l">
              <a:defRPr sz="2025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políticas de fila y triggers.</a:t>
            </a:r>
          </a:p>
        </p:txBody>
      </p:sp>
      <p:sp>
        <p:nvSpPr>
          <p:cNvPr id="46" name="Nota">
            <a:extLst xmlns:a="http://schemas.openxmlformats.org/drawingml/2006/main">
              <a:ext uri="{FF2B5EF4-FFF2-40B4-BE49-F238E27FC236}">
                <a16:creationId xmlns:a16="http://schemas.microsoft.com/office/drawing/2014/main" id="{549C5198-E48C-4795-8263-1A2CF5E6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72350"/>
            <a:ext cx="1228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Las migraciones SQL de Supabase se aplican por separado del despliegue del frontend.</a:t>
            </a:r>
          </a:p>
        </p:txBody>
      </p:sp>
    </p:spTree>
    <p:extLst>
      <p:ext uri="{BB962C8B-B14F-4D97-AF65-F5344CB8AC3E}">
        <p14:creationId xmlns:p14="http://schemas.microsoft.com/office/powerpoint/2010/main" val="5682436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BE39D-62F1-4DC2-9324-83908D36D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47634c94144ef2"/>
          <a:stretch xmlns:a="http://schemas.openxmlformats.org/drawingml/2006/main"/>
        </p:blipFill>
        <p:spPr>
          <a:xfrm xmlns:a="http://schemas.openxmlformats.org/drawingml/2006/main">
            <a:off x="4049" y="0"/>
            <a:ext cx="15231902" cy="8572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56DE8-9E1A-4B32-ABAF-D8C6C49786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ef7624a1eb4cb7"/>
          <a:stretch xmlns:a="http://schemas.openxmlformats.org/drawingml/2006/main"/>
        </p:blipFill>
        <p:spPr>
          <a:xfrm xmlns:a="http://schemas.openxmlformats.org/drawingml/2006/main">
            <a:off x="13335000" y="462877"/>
            <a:ext cx="1143000" cy="1131646"/>
          </a:xfrm>
          <a:prstGeom xmlns:a="http://schemas.openxmlformats.org/drawingml/2006/main" prst="rect">
            <a:avLst/>
          </a:prstGeom>
        </p:spPr>
      </p:pic>
      <p:sp>
        <p:nvSpPr>
          <p:cNvPr id="25" name="Entrega">
            <a:extLst xmlns:a="http://schemas.openxmlformats.org/drawingml/2006/main">
              <a:ext uri="{FF2B5EF4-FFF2-40B4-BE49-F238E27FC236}">
                <a16:creationId xmlns:a16="http://schemas.microsoft.com/office/drawing/2014/main" id="{EECF54A1-55DB-4573-BCC7-4F9BC9B6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181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PROYECTO UCN IIA  /  TALLER ABP  /  ENTREGA 1 (20%)</a:t>
            </a:r>
          </a:p>
        </p:txBody>
      </p:sp>
      <p:sp>
        <p:nvSpPr>
          <p:cNvPr id="26" name="Título">
            <a:extLst xmlns:a="http://schemas.openxmlformats.org/drawingml/2006/main">
              <a:ext uri="{FF2B5EF4-FFF2-40B4-BE49-F238E27FC236}">
                <a16:creationId xmlns:a16="http://schemas.microsoft.com/office/drawing/2014/main" id="{B96EB37E-99F2-4840-8798-04A32AE1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42975"/>
            <a:ext cx="1238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Flujo de alertas</a:t>
            </a:r>
          </a:p>
        </p:txBody>
      </p:sp>
      <p:sp>
        <p:nvSpPr>
          <p:cNvPr id="27" name="Subtítulo">
            <a:extLst xmlns:a="http://schemas.openxmlformats.org/drawingml/2006/main">
              <a:ext uri="{FF2B5EF4-FFF2-40B4-BE49-F238E27FC236}">
                <a16:creationId xmlns:a16="http://schemas.microsoft.com/office/drawing/2014/main" id="{1C563828-1D41-4E57-975C-C6035D94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1238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Las reglas de presupuesto generan eventos que la interfaz recibe por Realtime</a:t>
            </a:r>
          </a:p>
        </p:txBody>
      </p:sp>
      <p:sp>
        <p:nvSpPr>
          <p:cNvPr id="28" name="Página">
            <a:extLst xmlns:a="http://schemas.openxmlformats.org/drawingml/2006/main">
              <a:ext uri="{FF2B5EF4-FFF2-40B4-BE49-F238E27FC236}">
                <a16:creationId xmlns:a16="http://schemas.microsoft.com/office/drawing/2014/main" id="{8ACDAA81-397C-47C6-8125-FE3F2E6B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77628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5 / 8</a:t>
            </a:r>
          </a:p>
        </p:txBody>
      </p:sp>
      <p:sp>
        <p:nvSpPr>
          <p:cNvPr id="29" name="Paso 1">
            <a:extLst xmlns:a="http://schemas.openxmlformats.org/drawingml/2006/main">
              <a:ext uri="{FF2B5EF4-FFF2-40B4-BE49-F238E27FC236}">
                <a16:creationId xmlns:a16="http://schemas.microsoft.com/office/drawing/2014/main" id="{05437189-8A06-4BF0-86FF-08DD4591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Registro del gasto">
            <a:extLst xmlns:a="http://schemas.openxmlformats.org/drawingml/2006/main">
              <a:ext uri="{FF2B5EF4-FFF2-40B4-BE49-F238E27FC236}">
                <a16:creationId xmlns:a16="http://schemas.microsoft.com/office/drawing/2014/main" id="{E4576F9E-7FBD-4138-811D-07543277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3048000" cy="9525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Registro del gasto</a:t>
            </a:r>
          </a:p>
        </p:txBody>
      </p:sp>
      <p:sp>
        <p:nvSpPr>
          <p:cNvPr id="31" name="Detalle 1">
            <a:extLst xmlns:a="http://schemas.openxmlformats.org/drawingml/2006/main">
              <a:ext uri="{FF2B5EF4-FFF2-40B4-BE49-F238E27FC236}">
                <a16:creationId xmlns:a16="http://schemas.microsoft.com/office/drawing/2014/main" id="{94809400-1D2C-4F09-BC6B-F979718B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3048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El usuario registra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un gasto que supera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el presupuesto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configurado.</a:t>
            </a:r>
          </a:p>
        </p:txBody>
      </p:sp>
      <p:sp>
        <p:nvSpPr>
          <p:cNvPr id="32" name="Conexión">
            <a:extLst xmlns:a="http://schemas.openxmlformats.org/drawingml/2006/main">
              <a:ext uri="{FF2B5EF4-FFF2-40B4-BE49-F238E27FC236}">
                <a16:creationId xmlns:a16="http://schemas.microsoft.com/office/drawing/2014/main" id="{B3349A58-150D-4A68-A194-A81FC15B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90950"/>
            <a:ext cx="47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3375" b="0">
                <a:solidFill>
                  <a:srgbClr val="1F6F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3" name="Paso 2">
            <a:extLst xmlns:a="http://schemas.openxmlformats.org/drawingml/2006/main">
              <a:ext uri="{FF2B5EF4-FFF2-40B4-BE49-F238E27FC236}">
                <a16:creationId xmlns:a16="http://schemas.microsoft.com/office/drawing/2014/main" id="{E1FDDD85-70F8-4AC8-9AFB-8E7C0F76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4" name="Regla en PostgreSQL">
            <a:extLst xmlns:a="http://schemas.openxmlformats.org/drawingml/2006/main">
              <a:ext uri="{FF2B5EF4-FFF2-40B4-BE49-F238E27FC236}">
                <a16:creationId xmlns:a16="http://schemas.microsoft.com/office/drawing/2014/main" id="{F0FC1BA4-FD0F-453C-827F-47E09D8B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3048000" cy="9525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Regla en PostgreSQL</a:t>
            </a:r>
          </a:p>
        </p:txBody>
      </p:sp>
      <p:sp>
        <p:nvSpPr>
          <p:cNvPr id="35" name="Detalle 2">
            <a:extLst xmlns:a="http://schemas.openxmlformats.org/drawingml/2006/main">
              <a:ext uri="{FF2B5EF4-FFF2-40B4-BE49-F238E27FC236}">
                <a16:creationId xmlns:a16="http://schemas.microsoft.com/office/drawing/2014/main" id="{EE6E1B02-F053-4E47-9C88-00FB245E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00625"/>
            <a:ext cx="3048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El trigger detecta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el exceso y registra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el evento en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alerts_history.</a:t>
            </a:r>
          </a:p>
        </p:txBody>
      </p:sp>
      <p:sp>
        <p:nvSpPr>
          <p:cNvPr id="36" name="Conexión">
            <a:extLst xmlns:a="http://schemas.openxmlformats.org/drawingml/2006/main">
              <a:ext uri="{FF2B5EF4-FFF2-40B4-BE49-F238E27FC236}">
                <a16:creationId xmlns:a16="http://schemas.microsoft.com/office/drawing/2014/main" id="{9761AA88-8E9D-42AA-B42D-C8698B34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90950"/>
            <a:ext cx="47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3375" b="0">
                <a:solidFill>
                  <a:srgbClr val="1F6F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7" name="Paso 3">
            <a:extLst xmlns:a="http://schemas.openxmlformats.org/drawingml/2006/main">
              <a:ext uri="{FF2B5EF4-FFF2-40B4-BE49-F238E27FC236}">
                <a16:creationId xmlns:a16="http://schemas.microsoft.com/office/drawing/2014/main" id="{B37D8D14-7F8E-4241-985B-8F83DC48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9875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Supabase Realtime">
            <a:extLst xmlns:a="http://schemas.openxmlformats.org/drawingml/2006/main">
              <a:ext uri="{FF2B5EF4-FFF2-40B4-BE49-F238E27FC236}">
                <a16:creationId xmlns:a16="http://schemas.microsoft.com/office/drawing/2014/main" id="{E7D2FCB3-AF1D-448B-8D97-19E2D959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67125"/>
            <a:ext cx="3048000" cy="9525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Supabase Realtime</a:t>
            </a:r>
          </a:p>
        </p:txBody>
      </p:sp>
      <p:sp>
        <p:nvSpPr>
          <p:cNvPr id="39" name="Detalle 3">
            <a:extLst xmlns:a="http://schemas.openxmlformats.org/drawingml/2006/main">
              <a:ext uri="{FF2B5EF4-FFF2-40B4-BE49-F238E27FC236}">
                <a16:creationId xmlns:a16="http://schemas.microsoft.com/office/drawing/2014/main" id="{FB6C2EBD-9337-4A0D-A525-7862DAD4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00625"/>
            <a:ext cx="3048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La suscripción recibe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el cambio de la tabla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y lo transmite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al navegador.</a:t>
            </a:r>
          </a:p>
        </p:txBody>
      </p:sp>
      <p:sp>
        <p:nvSpPr>
          <p:cNvPr id="40" name="Conexión">
            <a:extLst xmlns:a="http://schemas.openxmlformats.org/drawingml/2006/main">
              <a:ext uri="{FF2B5EF4-FFF2-40B4-BE49-F238E27FC236}">
                <a16:creationId xmlns:a16="http://schemas.microsoft.com/office/drawing/2014/main" id="{8E31B698-5B73-4E37-BB43-943C3FF1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790950"/>
            <a:ext cx="47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375" b="0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3375" b="0">
                <a:solidFill>
                  <a:srgbClr val="1F6F5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41" name="Paso 4">
            <a:extLst xmlns:a="http://schemas.openxmlformats.org/drawingml/2006/main">
              <a:ext uri="{FF2B5EF4-FFF2-40B4-BE49-F238E27FC236}">
                <a16:creationId xmlns:a16="http://schemas.microsoft.com/office/drawing/2014/main" id="{7B293C60-847E-41BD-97BC-F3102D6B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809875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2" name="Aviso en React">
            <a:extLst xmlns:a="http://schemas.openxmlformats.org/drawingml/2006/main">
              <a:ext uri="{FF2B5EF4-FFF2-40B4-BE49-F238E27FC236}">
                <a16:creationId xmlns:a16="http://schemas.microsoft.com/office/drawing/2014/main" id="{D2F18A7E-3E90-4DA0-8C5C-A969705F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667125"/>
            <a:ext cx="3048000" cy="9525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>
              <a:alpha val="65000"/>
            </a:srgbClr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Aviso en React</a:t>
            </a:r>
          </a:p>
        </p:txBody>
      </p:sp>
      <p:sp>
        <p:nvSpPr>
          <p:cNvPr id="43" name="Detalle 4">
            <a:extLst xmlns:a="http://schemas.openxmlformats.org/drawingml/2006/main">
              <a:ext uri="{FF2B5EF4-FFF2-40B4-BE49-F238E27FC236}">
                <a16:creationId xmlns:a16="http://schemas.microsoft.com/office/drawing/2014/main" id="{276B6272-CE64-4619-97E6-C2DCA5E4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000625"/>
            <a:ext cx="3048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La aplicación recibe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el evento y muestra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una notificación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sin recargar.</a:t>
            </a:r>
          </a:p>
        </p:txBody>
      </p:sp>
      <p:sp>
        <p:nvSpPr>
          <p:cNvPr id="44" name="Nota">
            <a:extLst xmlns:a="http://schemas.openxmlformats.org/drawingml/2006/main">
              <a:ext uri="{FF2B5EF4-FFF2-40B4-BE49-F238E27FC236}">
                <a16:creationId xmlns:a16="http://schemas.microsoft.com/office/drawing/2014/main" id="{91F731C5-CECE-41DE-8F00-C44BB46B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72350"/>
            <a:ext cx="1228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Las alertas se basan en reglas SQL. No interviene un modelo de IA en este flujo.</a:t>
            </a:r>
          </a:p>
        </p:txBody>
      </p:sp>
    </p:spTree>
    <p:extLst>
      <p:ext uri="{BB962C8B-B14F-4D97-AF65-F5344CB8AC3E}">
        <p14:creationId xmlns:p14="http://schemas.microsoft.com/office/powerpoint/2010/main" val="56824369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BE39D-62F1-4DC2-9324-83908D36D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0169e214ae45a6"/>
          <a:stretch xmlns:a="http://schemas.openxmlformats.org/drawingml/2006/main"/>
        </p:blipFill>
        <p:spPr>
          <a:xfrm xmlns:a="http://schemas.openxmlformats.org/drawingml/2006/main">
            <a:off x="4049" y="0"/>
            <a:ext cx="15231902" cy="8572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56DE8-9E1A-4B32-ABAF-D8C6C49786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40811832d4cba"/>
          <a:stretch xmlns:a="http://schemas.openxmlformats.org/drawingml/2006/main"/>
        </p:blipFill>
        <p:spPr>
          <a:xfrm xmlns:a="http://schemas.openxmlformats.org/drawingml/2006/main">
            <a:off x="13335000" y="462877"/>
            <a:ext cx="1143000" cy="1131646"/>
          </a:xfrm>
          <a:prstGeom xmlns:a="http://schemas.openxmlformats.org/drawingml/2006/main" prst="rect">
            <a:avLst/>
          </a:prstGeom>
        </p:spPr>
      </p:pic>
      <p:sp>
        <p:nvSpPr>
          <p:cNvPr id="25" name="Entrega">
            <a:extLst xmlns:a="http://schemas.openxmlformats.org/drawingml/2006/main">
              <a:ext uri="{FF2B5EF4-FFF2-40B4-BE49-F238E27FC236}">
                <a16:creationId xmlns:a16="http://schemas.microsoft.com/office/drawing/2014/main" id="{EEA1D3C1-F660-43AA-86CB-C7EB2CBE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181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PROYECTO UCN IIA  /  TALLER ABP  /  ENTREGA 1 (20%)</a:t>
            </a:r>
          </a:p>
        </p:txBody>
      </p:sp>
      <p:sp>
        <p:nvSpPr>
          <p:cNvPr id="26" name="Título">
            <a:extLst xmlns:a="http://schemas.openxmlformats.org/drawingml/2006/main">
              <a:ext uri="{FF2B5EF4-FFF2-40B4-BE49-F238E27FC236}">
                <a16:creationId xmlns:a16="http://schemas.microsoft.com/office/drawing/2014/main" id="{8721532A-9EF6-4B3D-A2D7-9079BC41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42975"/>
            <a:ext cx="1238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Stack tecnológico</a:t>
            </a:r>
          </a:p>
        </p:txBody>
      </p:sp>
      <p:sp>
        <p:nvSpPr>
          <p:cNvPr id="27" name="Subtítulo">
            <a:extLst xmlns:a="http://schemas.openxmlformats.org/drawingml/2006/main">
              <a:ext uri="{FF2B5EF4-FFF2-40B4-BE49-F238E27FC236}">
                <a16:creationId xmlns:a16="http://schemas.microsoft.com/office/drawing/2014/main" id="{E483E32D-2387-4920-B344-2CC3911B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1238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Tecnologías y responsabilidades de cada capa</a:t>
            </a:r>
          </a:p>
        </p:txBody>
      </p:sp>
      <p:sp>
        <p:nvSpPr>
          <p:cNvPr id="28" name="Página">
            <a:extLst xmlns:a="http://schemas.openxmlformats.org/drawingml/2006/main">
              <a:ext uri="{FF2B5EF4-FFF2-40B4-BE49-F238E27FC236}">
                <a16:creationId xmlns:a16="http://schemas.microsoft.com/office/drawing/2014/main" id="{D63EA536-3DFC-471C-8C11-588A1364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77628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6 / 8</a:t>
            </a:r>
          </a:p>
        </p:txBody>
      </p:sp>
      <p:graphicFrame>
        <p:nvGraphicFrame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73E35D-EB20-479B-8A20-27BAA9EEC578}"/>
              </a:ext>
            </a:extLst>
          </p:cNvPr>
          <p:cNvGraphicFramePr/>
          <p:nvPr/>
        </p:nvGraphicFramePr>
        <p:xfrm>
          <a:off xmlns:a="http://schemas.openxmlformats.org/drawingml/2006/main" x="762000" y="2667000"/>
          <a:ext xmlns:a="http://schemas.openxmlformats.org/drawingml/2006/main" cx="13716000" cy="4333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09875"/>
                <a:gridCol w="4238625"/>
                <a:gridCol w="6667500"/>
              </a:tblGrid>
              <a:tr h="6381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Capa del sistema</a:t>
                      </a:r>
                    </a:p>
                  </a:txBody>
                  <a:tcPr marL="91440" marR="91440" marT="45720" marB="45720">
                    <a:solidFill>
                      <a:srgbClr val="1F6F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Tecnología principal</a:t>
                      </a:r>
                    </a:p>
                  </a:txBody>
                  <a:tcPr marL="91440" marR="91440" marT="45720" marB="45720">
                    <a:solidFill>
                      <a:srgbClr val="1F6F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Implementación y función</a:t>
                      </a:r>
                    </a:p>
                  </a:txBody>
                  <a:tcPr marL="91440" marR="91440" marT="45720" marB="45720">
                    <a:solidFill>
                      <a:srgbClr val="1F6F5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Interfaz y</a:t>
                      </a:r>
                    </a:p>
                    <a:p>
                      <a:r>
                        <a:rPr sz="1950" b="1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visualización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React 18, Tailwind CSS,</a:t>
                      </a:r>
                    </a:p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Recharts y Lucide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Interfaz adaptable, cuatro temas</a:t>
                      </a:r>
                    </a:p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y gráficos de ingresos, gastos y balance.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Estado y</a:t>
                      </a:r>
                    </a:p>
                    <a:p>
                      <a:r>
                        <a:rPr sz="1950" b="1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formularios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Contextos y hooks propios,</a:t>
                      </a:r>
                    </a:p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React Hook Form y Zod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Gestión de sesión y estado.</a:t>
                      </a:r>
                    </a:p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Validación de formularios antes del envío.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Backend y</a:t>
                      </a:r>
                    </a:p>
                    <a:p>
                      <a:r>
                        <a:rPr sz="1950" b="1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base de datos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Supabase, PostgreSQL</a:t>
                      </a:r>
                    </a:p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y PL/pgSQL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Autenticación, persistencia relacional,</a:t>
                      </a:r>
                    </a:p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políticas RLS y triggers de presupuesto.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Despliegue e</a:t>
                      </a:r>
                    </a:p>
                    <a:p>
                      <a:r>
                        <a:rPr sz="1950" b="1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integración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Vercel y GitHub Actions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Hosting estático de la SPA</a:t>
                      </a:r>
                    </a:p>
                    <a:p>
                      <a:r>
                        <a:rPr sz="1950" b="0">
                          <a:solidFill>
                            <a:srgbClr val="10203A"/>
                          </a:solidFill>
                          <a:latin typeface="Arial"/>
                          <a:ea typeface="Arial"/>
                          <a:cs typeface="Arial"/>
                        </a:rPr>
                        <a:t>y comprobaciones de calidad en CI.</a:t>
                      </a:r>
                    </a:p>
                  </a:txBody>
                  <a:tcPr marL="91440" marR="91440" marT="45720" marB="45720">
                    <a:solidFill>
                      <a:srgbClr val="FFFFFF">
                        <a:alpha val="55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0" name="Nota">
            <a:extLst xmlns:a="http://schemas.openxmlformats.org/drawingml/2006/main">
              <a:ext uri="{FF2B5EF4-FFF2-40B4-BE49-F238E27FC236}">
                <a16:creationId xmlns:a16="http://schemas.microsoft.com/office/drawing/2014/main" id="{F8392920-CB7D-4286-9D54-55F49AE2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72350"/>
            <a:ext cx="1228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TypeScript comprueba los tipos. Vite construye los archivos de producción en dist.</a:t>
            </a:r>
          </a:p>
        </p:txBody>
      </p:sp>
    </p:spTree>
    <p:extLst>
      <p:ext uri="{BB962C8B-B14F-4D97-AF65-F5344CB8AC3E}">
        <p14:creationId xmlns:p14="http://schemas.microsoft.com/office/powerpoint/2010/main" val="56824369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BE39D-62F1-4DC2-9324-83908D36D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7eb7a6b0304ab6"/>
          <a:stretch xmlns:a="http://schemas.openxmlformats.org/drawingml/2006/main"/>
        </p:blipFill>
        <p:spPr>
          <a:xfrm xmlns:a="http://schemas.openxmlformats.org/drawingml/2006/main">
            <a:off x="4049" y="0"/>
            <a:ext cx="15231902" cy="8572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56DE8-9E1A-4B32-ABAF-D8C6C49786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de6dbd99fb4b36"/>
          <a:stretch xmlns:a="http://schemas.openxmlformats.org/drawingml/2006/main"/>
        </p:blipFill>
        <p:spPr>
          <a:xfrm xmlns:a="http://schemas.openxmlformats.org/drawingml/2006/main">
            <a:off x="13335000" y="462877"/>
            <a:ext cx="1143000" cy="1131646"/>
          </a:xfrm>
          <a:prstGeom xmlns:a="http://schemas.openxmlformats.org/drawingml/2006/main" prst="rect">
            <a:avLst/>
          </a:prstGeom>
        </p:spPr>
      </p:pic>
      <p:sp>
        <p:nvSpPr>
          <p:cNvPr id="25" name="Entrega">
            <a:extLst xmlns:a="http://schemas.openxmlformats.org/drawingml/2006/main">
              <a:ext uri="{FF2B5EF4-FFF2-40B4-BE49-F238E27FC236}">
                <a16:creationId xmlns:a16="http://schemas.microsoft.com/office/drawing/2014/main" id="{E4AFF692-EEB6-4A7B-8F71-EC16C4AA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181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PROYECTO UCN IIA  /  TALLER ABP  /  ENTREGA 1 (20%)</a:t>
            </a:r>
          </a:p>
        </p:txBody>
      </p:sp>
      <p:sp>
        <p:nvSpPr>
          <p:cNvPr id="26" name="Título">
            <a:extLst xmlns:a="http://schemas.openxmlformats.org/drawingml/2006/main">
              <a:ext uri="{FF2B5EF4-FFF2-40B4-BE49-F238E27FC236}">
                <a16:creationId xmlns:a16="http://schemas.microsoft.com/office/drawing/2014/main" id="{DA214597-D8D6-491B-9289-9B9596E0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42975"/>
            <a:ext cx="1238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Integración y calidad</a:t>
            </a:r>
          </a:p>
        </p:txBody>
      </p:sp>
      <p:sp>
        <p:nvSpPr>
          <p:cNvPr id="27" name="Subtítulo">
            <a:extLst xmlns:a="http://schemas.openxmlformats.org/drawingml/2006/main">
              <a:ext uri="{FF2B5EF4-FFF2-40B4-BE49-F238E27FC236}">
                <a16:creationId xmlns:a16="http://schemas.microsoft.com/office/drawing/2014/main" id="{CD34A2EF-2BFB-4DA1-9346-9E52AC7B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1238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GitHub Actions y Vercel ejecutan sus procesos a partir de los cambios del repositorio</a:t>
            </a:r>
          </a:p>
        </p:txBody>
      </p:sp>
      <p:sp>
        <p:nvSpPr>
          <p:cNvPr id="28" name="Página">
            <a:extLst xmlns:a="http://schemas.openxmlformats.org/drawingml/2006/main">
              <a:ext uri="{FF2B5EF4-FFF2-40B4-BE49-F238E27FC236}">
                <a16:creationId xmlns:a16="http://schemas.microsoft.com/office/drawing/2014/main" id="{50AE44FB-ED86-4CD8-9052-84C55FF6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77628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7 / 8</a:t>
            </a:r>
          </a:p>
        </p:txBody>
      </p:sp>
      <p:sp>
        <p:nvSpPr>
          <p:cNvPr id="29" name="1. Desarrollo">
            <a:extLst xmlns:a="http://schemas.openxmlformats.org/drawingml/2006/main">
              <a:ext uri="{FF2B5EF4-FFF2-40B4-BE49-F238E27FC236}">
                <a16:creationId xmlns:a16="http://schemas.microsoft.com/office/drawing/2014/main" id="{286999E1-FAF6-48A9-9AAA-429E72A4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1. Desarrollo</a:t>
            </a:r>
          </a:p>
        </p:txBody>
      </p:sp>
      <p:sp>
        <p:nvSpPr>
          <p:cNvPr id="30" name="1. Desarrollo detalle">
            <a:extLst xmlns:a="http://schemas.openxmlformats.org/drawingml/2006/main">
              <a:ext uri="{FF2B5EF4-FFF2-40B4-BE49-F238E27FC236}">
                <a16:creationId xmlns:a16="http://schemas.microsoft.com/office/drawing/2014/main" id="{E3FA1F76-8559-4EA0-BE5E-6600E839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67075"/>
            <a:ext cx="628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Código en TypeScript y commits</a:t>
            </a:r>
          </a:p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a la rama master en GitHub.</a:t>
            </a:r>
          </a:p>
        </p:txBody>
      </p:sp>
      <p:sp>
        <p:nvSpPr>
          <p:cNvPr id="31" name="2. Validación continua">
            <a:extLst xmlns:a="http://schemas.openxmlformats.org/drawingml/2006/main">
              <a:ext uri="{FF2B5EF4-FFF2-40B4-BE49-F238E27FC236}">
                <a16:creationId xmlns:a16="http://schemas.microsoft.com/office/drawing/2014/main" id="{C509F351-ED6D-4832-8045-A518208D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14625"/>
            <a:ext cx="638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2. Validación continua</a:t>
            </a:r>
          </a:p>
        </p:txBody>
      </p:sp>
      <p:sp>
        <p:nvSpPr>
          <p:cNvPr id="32" name="2. Validación continua detalle">
            <a:extLst xmlns:a="http://schemas.openxmlformats.org/drawingml/2006/main">
              <a:ext uri="{FF2B5EF4-FFF2-40B4-BE49-F238E27FC236}">
                <a16:creationId xmlns:a16="http://schemas.microsoft.com/office/drawing/2014/main" id="{8E756325-D97A-46ED-8F42-565C740F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67075"/>
            <a:ext cx="638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GitHub Actions ejecuta npm run lint</a:t>
            </a:r>
          </a:p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y npm run build. El build incluye</a:t>
            </a:r>
          </a:p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la comprobación de tipos.</a:t>
            </a:r>
          </a:p>
        </p:txBody>
      </p:sp>
      <p:sp>
        <p:nvSpPr>
          <p:cNvPr id="33" name="3. Despliegue del frontend">
            <a:extLst xmlns:a="http://schemas.openxmlformats.org/drawingml/2006/main">
              <a:ext uri="{FF2B5EF4-FFF2-40B4-BE49-F238E27FC236}">
                <a16:creationId xmlns:a16="http://schemas.microsoft.com/office/drawing/2014/main" id="{FD3A554D-2046-4482-A812-D09802A4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3. Despliegue del frontend</a:t>
            </a:r>
          </a:p>
        </p:txBody>
      </p:sp>
      <p:sp>
        <p:nvSpPr>
          <p:cNvPr id="34" name="3. Despliegue del frontend detalle">
            <a:extLst xmlns:a="http://schemas.openxmlformats.org/drawingml/2006/main">
              <a:ext uri="{FF2B5EF4-FFF2-40B4-BE49-F238E27FC236}">
                <a16:creationId xmlns:a16="http://schemas.microsoft.com/office/drawing/2014/main" id="{10BCC61C-6A09-4259-9A8B-17397FAB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48325"/>
            <a:ext cx="628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Vercel construye dist con las variables</a:t>
            </a:r>
          </a:p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públicas de Supabase. vercel.json permite</a:t>
            </a:r>
          </a:p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recargar las rutas de la SPA.</a:t>
            </a:r>
          </a:p>
        </p:txBody>
      </p:sp>
      <p:sp>
        <p:nvSpPr>
          <p:cNvPr id="35" name="4. Migraciones del backend">
            <a:extLst xmlns:a="http://schemas.openxmlformats.org/drawingml/2006/main">
              <a:ext uri="{FF2B5EF4-FFF2-40B4-BE49-F238E27FC236}">
                <a16:creationId xmlns:a16="http://schemas.microsoft.com/office/drawing/2014/main" id="{3410F2FE-4EEE-4BE5-B4A5-0136F4EA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95875"/>
            <a:ext cx="638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4. Migraciones del backend</a:t>
            </a:r>
          </a:p>
        </p:txBody>
      </p:sp>
      <p:sp>
        <p:nvSpPr>
          <p:cNvPr id="36" name="4. Migraciones del backend detalle">
            <a:extLst xmlns:a="http://schemas.openxmlformats.org/drawingml/2006/main">
              <a:ext uri="{FF2B5EF4-FFF2-40B4-BE49-F238E27FC236}">
                <a16:creationId xmlns:a16="http://schemas.microsoft.com/office/drawing/2014/main" id="{E058CD4F-4A56-4EB9-8B59-637DAB7F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648325"/>
            <a:ext cx="638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Supabase aplica los archivos SQL</a:t>
            </a:r>
          </a:p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versionados 0001, 0002 y 0003.</a:t>
            </a:r>
          </a:p>
          <a:p xmlns:a="http://schemas.openxmlformats.org/drawingml/2006/main">
            <a:pPr algn="l">
              <a:defRPr sz="22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Este proceso se realiza por separado.</a:t>
            </a:r>
          </a:p>
        </p:txBody>
      </p:sp>
      <p:sp>
        <p:nvSpPr>
          <p:cNvPr id="37" name="Nota">
            <a:extLst xmlns:a="http://schemas.openxmlformats.org/drawingml/2006/main">
              <a:ext uri="{FF2B5EF4-FFF2-40B4-BE49-F238E27FC236}">
                <a16:creationId xmlns:a16="http://schemas.microsoft.com/office/drawing/2014/main" id="{F7B76638-8307-4D28-9155-303A9E8C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72350"/>
            <a:ext cx="1228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CI y despliegue son procesos independientes. Las variables VITE_* son públicas y nunca deben contener claves administrativas.</a:t>
            </a:r>
          </a:p>
        </p:txBody>
      </p:sp>
    </p:spTree>
    <p:extLst>
      <p:ext uri="{BB962C8B-B14F-4D97-AF65-F5344CB8AC3E}">
        <p14:creationId xmlns:p14="http://schemas.microsoft.com/office/powerpoint/2010/main" val="56824369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BE39D-62F1-4DC2-9324-83908D36D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0eba36e4104855"/>
          <a:stretch xmlns:a="http://schemas.openxmlformats.org/drawingml/2006/main"/>
        </p:blipFill>
        <p:spPr>
          <a:xfrm xmlns:a="http://schemas.openxmlformats.org/drawingml/2006/main">
            <a:off x="4049" y="0"/>
            <a:ext cx="15231902" cy="8572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56DE8-9E1A-4B32-ABAF-D8C6C49786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9fe52d3dd04ae6"/>
          <a:stretch xmlns:a="http://schemas.openxmlformats.org/drawingml/2006/main"/>
        </p:blipFill>
        <p:spPr>
          <a:xfrm xmlns:a="http://schemas.openxmlformats.org/drawingml/2006/main">
            <a:off x="13335000" y="462877"/>
            <a:ext cx="1143000" cy="1131646"/>
          </a:xfrm>
          <a:prstGeom xmlns:a="http://schemas.openxmlformats.org/drawingml/2006/main" prst="rect">
            <a:avLst/>
          </a:prstGeom>
        </p:spPr>
      </p:pic>
      <p:sp>
        <p:nvSpPr>
          <p:cNvPr id="25" name="Entrega">
            <a:extLst xmlns:a="http://schemas.openxmlformats.org/drawingml/2006/main">
              <a:ext uri="{FF2B5EF4-FFF2-40B4-BE49-F238E27FC236}">
                <a16:creationId xmlns:a16="http://schemas.microsoft.com/office/drawing/2014/main" id="{1304D4E8-B6E3-4266-9195-D4323688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181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PROYECTO UCN IIA  /  TALLER ABP  /  ENTREGA 1 (20%)</a:t>
            </a:r>
          </a:p>
        </p:txBody>
      </p:sp>
      <p:sp>
        <p:nvSpPr>
          <p:cNvPr id="26" name="Título">
            <a:extLst xmlns:a="http://schemas.openxmlformats.org/drawingml/2006/main">
              <a:ext uri="{FF2B5EF4-FFF2-40B4-BE49-F238E27FC236}">
                <a16:creationId xmlns:a16="http://schemas.microsoft.com/office/drawing/2014/main" id="{3412F24A-F53E-45AC-A574-D612B84F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42975"/>
            <a:ext cx="1238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0203A"/>
                </a:solidFill>
                <a:latin typeface="Arial"/>
                <a:ea typeface="Arial"/>
                <a:cs typeface="Arial"/>
              </a:rPr>
              <a:t>Estado del proyecto y acceso</a:t>
            </a:r>
          </a:p>
        </p:txBody>
      </p:sp>
      <p:sp>
        <p:nvSpPr>
          <p:cNvPr id="27" name="Subtítulo">
            <a:extLst xmlns:a="http://schemas.openxmlformats.org/drawingml/2006/main">
              <a:ext uri="{FF2B5EF4-FFF2-40B4-BE49-F238E27FC236}">
                <a16:creationId xmlns:a16="http://schemas.microsoft.com/office/drawing/2014/main" id="{B09E438A-DD0C-4469-BE04-36139111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1238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Frontend publicado en Vercel y repositorio público en GitHub</a:t>
            </a:r>
          </a:p>
        </p:txBody>
      </p:sp>
      <p:sp>
        <p:nvSpPr>
          <p:cNvPr id="28" name="Página">
            <a:extLst xmlns:a="http://schemas.openxmlformats.org/drawingml/2006/main">
              <a:ext uri="{FF2B5EF4-FFF2-40B4-BE49-F238E27FC236}">
                <a16:creationId xmlns:a16="http://schemas.microsoft.com/office/drawing/2014/main" id="{49154E53-7170-43C0-A9F9-28753B18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77628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29" name="Aplicación y demo">
            <a:extLst xmlns:a="http://schemas.openxmlformats.org/drawingml/2006/main">
              <a:ext uri="{FF2B5EF4-FFF2-40B4-BE49-F238E27FC236}">
                <a16:creationId xmlns:a16="http://schemas.microsoft.com/office/drawing/2014/main" id="{E635D4B5-6EC6-4C34-89C3-99A9F749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733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Aplicación y demo</a:t>
            </a:r>
          </a:p>
        </p:txBody>
      </p:sp>
      <p:sp>
        <p:nvSpPr>
          <p:cNvPr id="30" name="Aplicación y demo detalle">
            <a:extLst xmlns:a="http://schemas.openxmlformats.org/drawingml/2006/main">
              <a:ext uri="{FF2B5EF4-FFF2-40B4-BE49-F238E27FC236}">
                <a16:creationId xmlns:a16="http://schemas.microsoft.com/office/drawing/2014/main" id="{0E3501C5-FA67-4BBF-B080-384D8FB4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73342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personal-finance-taupe-psi.vercel.app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La ruta /explore/dashboard permite</a:t>
            </a:r>
          </a:p>
          <a:p xmlns:a="http://schemas.openxmlformats.org/drawingml/2006/main">
            <a:pPr algn="l">
              <a:defRPr sz="210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probar la interfaz con datos de ejemplo.</a:t>
            </a:r>
          </a:p>
        </p:txBody>
      </p:sp>
      <p:sp>
        <p:nvSpPr>
          <p:cNvPr id="31" name="Código y entrega">
            <a:extLst xmlns:a="http://schemas.openxmlformats.org/drawingml/2006/main">
              <a:ext uri="{FF2B5EF4-FFF2-40B4-BE49-F238E27FC236}">
                <a16:creationId xmlns:a16="http://schemas.microsoft.com/office/drawing/2014/main" id="{D3C911A1-7570-4DB4-9432-FC88BE63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733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6F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6F5F"/>
                </a:solidFill>
                <a:latin typeface="Arial"/>
                <a:ea typeface="Arial"/>
                <a:cs typeface="Arial"/>
              </a:rPr>
              <a:t>Código y entrega</a:t>
            </a:r>
          </a:p>
        </p:txBody>
      </p:sp>
      <p:sp>
        <p:nvSpPr>
          <p:cNvPr id="32" name="Código y entrega detalle">
            <a:extLst xmlns:a="http://schemas.openxmlformats.org/drawingml/2006/main">
              <a:ext uri="{FF2B5EF4-FFF2-40B4-BE49-F238E27FC236}">
                <a16:creationId xmlns:a16="http://schemas.microsoft.com/office/drawing/2014/main" id="{D88FB8FC-5B98-4157-94A9-4DB44183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00700"/>
            <a:ext cx="73342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github.com/bryangallegobetancur/Personal-finance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9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Código público. Presentación y soporte</a:t>
            </a:r>
          </a:p>
          <a:p xmlns:a="http://schemas.openxmlformats.org/drawingml/2006/main">
            <a:pPr algn="l">
              <a:defRPr sz="1950" b="0">
                <a:solidFill>
                  <a:srgbClr val="10203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03A"/>
                </a:solidFill>
                <a:latin typeface="Arial"/>
                <a:ea typeface="Arial"/>
                <a:cs typeface="Arial"/>
              </a:rPr>
              <a:t>técnico disponibles en docs/.</a:t>
            </a:r>
          </a:p>
        </p:txBody>
      </p:sp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37A929-68FA-4F01-B7FB-4F148D414D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b364e27e804091"/>
          <a:stretch xmlns:a="http://schemas.openxmlformats.org/drawingml/2006/main"/>
        </p:blipFill>
        <p:spPr>
          <a:xfrm xmlns:a="http://schemas.openxmlformats.org/drawingml/2006/main">
            <a:off x="9052775" y="2619375"/>
            <a:ext cx="5183075" cy="4048125"/>
          </a:xfrm>
          <a:prstGeom xmlns:a="http://schemas.openxmlformats.org/drawingml/2006/main" prst="rect">
            <a:avLst/>
          </a:prstGeom>
        </p:spPr>
      </p:pic>
      <p:sp>
        <p:nvSpPr>
          <p:cNvPr id="34" name="Captura">
            <a:extLst xmlns:a="http://schemas.openxmlformats.org/drawingml/2006/main">
              <a:ext uri="{FF2B5EF4-FFF2-40B4-BE49-F238E27FC236}">
                <a16:creationId xmlns:a16="http://schemas.microsoft.com/office/drawing/2014/main" id="{C657B292-13EC-4D87-B74B-D75FC91B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858000"/>
            <a:ext cx="5191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Captura de la demo pública con datos de ejemplo.</a:t>
            </a:r>
          </a:p>
        </p:txBody>
      </p:sp>
      <p:sp>
        <p:nvSpPr>
          <p:cNvPr id="35" name="Nota">
            <a:extLst xmlns:a="http://schemas.openxmlformats.org/drawingml/2006/main">
              <a:ext uri="{FF2B5EF4-FFF2-40B4-BE49-F238E27FC236}">
                <a16:creationId xmlns:a16="http://schemas.microsoft.com/office/drawing/2014/main" id="{77D73A8A-CE69-41F2-838E-09954225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72350"/>
            <a:ext cx="1228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41597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15971"/>
                </a:solidFill>
                <a:latin typeface="Arial"/>
                <a:ea typeface="Arial"/>
                <a:cs typeface="Arial"/>
              </a:rPr>
              <a:t>Auth y RLS implementados. Pruebas cloud pendientes. IA utilizada como apoyo al desarrollo, sin modelos en ejecución.</a:t>
            </a:r>
          </a:p>
        </p:txBody>
      </p:sp>
    </p:spTree>
    <p:extLst>
      <p:ext uri="{BB962C8B-B14F-4D97-AF65-F5344CB8AC3E}">
        <p14:creationId xmlns:p14="http://schemas.microsoft.com/office/powerpoint/2010/main" val="5682436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2026-10-11T16:52:23.9980000Z</dcterms:created>
  <dcterms:modified xsi:type="dcterms:W3CDTF">2026-10-11T16:52:23.9980000Z</dcterms:modified>
</coreProperties>
</file>